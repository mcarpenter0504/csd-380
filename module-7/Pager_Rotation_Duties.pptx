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8895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ci12g81JWS7lnD1+pLN1fcfnx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5c36a2d0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5c36a2d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text excerpt summarized.</a:t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URLs: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https://www.scribd.com/presentation/659921218/PRACTICES-FOR-PAGER-ROTATION-DUTIES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https://medium.com/@alertsleep/how-to-run-effective-on-call-rotations-without-burning-out-your-devops-team-c2b40db98311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DevOps Handbook by Gene Kim et 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Google SRE Workbook.</a:t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5c36a2d05_0_727"/>
          <p:cNvSpPr/>
          <p:nvPr/>
        </p:nvSpPr>
        <p:spPr>
          <a:xfrm>
            <a:off x="0" y="0"/>
            <a:ext cx="12189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f5c36a2d05_0_727"/>
          <p:cNvGrpSpPr/>
          <p:nvPr/>
        </p:nvGrpSpPr>
        <p:grpSpPr>
          <a:xfrm>
            <a:off x="1106914" y="1588427"/>
            <a:ext cx="994103" cy="61102"/>
            <a:chOff x="4580561" y="2589004"/>
            <a:chExt cx="1064464" cy="25200"/>
          </a:xfrm>
        </p:grpSpPr>
        <p:sp>
          <p:nvSpPr>
            <p:cNvPr id="12" name="Google Shape;12;g3f5c36a2d05_0_7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f5c36a2d05_0_7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f5c36a2d05_0_727"/>
          <p:cNvSpPr txBox="1"/>
          <p:nvPr>
            <p:ph type="ctrTitle"/>
          </p:nvPr>
        </p:nvSpPr>
        <p:spPr>
          <a:xfrm>
            <a:off x="972357" y="1763267"/>
            <a:ext cx="10248300" cy="2219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g3f5c36a2d05_0_727"/>
          <p:cNvSpPr txBox="1"/>
          <p:nvPr>
            <p:ph idx="1" type="subTitle"/>
          </p:nvPr>
        </p:nvSpPr>
        <p:spPr>
          <a:xfrm>
            <a:off x="972593" y="4230533"/>
            <a:ext cx="10248300" cy="721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f5c36a2d05_0_727"/>
          <p:cNvSpPr txBox="1"/>
          <p:nvPr>
            <p:ph idx="12" type="sldNum"/>
          </p:nvPr>
        </p:nvSpPr>
        <p:spPr>
          <a:xfrm>
            <a:off x="11378889" y="6333134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f5c36a2d05_0_735"/>
          <p:cNvGrpSpPr/>
          <p:nvPr/>
        </p:nvGrpSpPr>
        <p:grpSpPr>
          <a:xfrm>
            <a:off x="1106914" y="1588427"/>
            <a:ext cx="994103" cy="61102"/>
            <a:chOff x="4580561" y="2589004"/>
            <a:chExt cx="1064464" cy="25200"/>
          </a:xfrm>
        </p:grpSpPr>
        <p:sp>
          <p:nvSpPr>
            <p:cNvPr id="19" name="Google Shape;19;g3f5c36a2d05_0_7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f5c36a2d05_0_7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f5c36a2d05_0_735"/>
          <p:cNvSpPr txBox="1"/>
          <p:nvPr>
            <p:ph type="title"/>
          </p:nvPr>
        </p:nvSpPr>
        <p:spPr>
          <a:xfrm>
            <a:off x="972357" y="1763267"/>
            <a:ext cx="10248600" cy="20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f5c36a2d05_0_735"/>
          <p:cNvSpPr txBox="1"/>
          <p:nvPr>
            <p:ph idx="12" type="sldNum"/>
          </p:nvPr>
        </p:nvSpPr>
        <p:spPr>
          <a:xfrm>
            <a:off x="11378889" y="6333134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5c36a2d05_0_741"/>
          <p:cNvSpPr/>
          <p:nvPr/>
        </p:nvSpPr>
        <p:spPr>
          <a:xfrm>
            <a:off x="0" y="0"/>
            <a:ext cx="12189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f5c36a2d05_0_741"/>
          <p:cNvGrpSpPr/>
          <p:nvPr/>
        </p:nvGrpSpPr>
        <p:grpSpPr>
          <a:xfrm>
            <a:off x="1106914" y="1588427"/>
            <a:ext cx="994103" cy="61102"/>
            <a:chOff x="4580561" y="2589004"/>
            <a:chExt cx="1064464" cy="25200"/>
          </a:xfrm>
        </p:grpSpPr>
        <p:sp>
          <p:nvSpPr>
            <p:cNvPr id="26" name="Google Shape;26;g3f5c36a2d05_0_74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f5c36a2d05_0_74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f5c36a2d05_0_741"/>
          <p:cNvSpPr txBox="1"/>
          <p:nvPr>
            <p:ph type="title"/>
          </p:nvPr>
        </p:nvSpPr>
        <p:spPr>
          <a:xfrm>
            <a:off x="972357" y="1758200"/>
            <a:ext cx="10248900" cy="713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g3f5c36a2d05_0_741"/>
          <p:cNvSpPr txBox="1"/>
          <p:nvPr>
            <p:ph idx="1" type="body"/>
          </p:nvPr>
        </p:nvSpPr>
        <p:spPr>
          <a:xfrm>
            <a:off x="972357" y="2771833"/>
            <a:ext cx="10248900" cy="301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g3f5c36a2d05_0_741"/>
          <p:cNvSpPr txBox="1"/>
          <p:nvPr>
            <p:ph idx="12" type="sldNum"/>
          </p:nvPr>
        </p:nvSpPr>
        <p:spPr>
          <a:xfrm>
            <a:off x="11378889" y="6333134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5c36a2d05_0_749"/>
          <p:cNvSpPr/>
          <p:nvPr/>
        </p:nvSpPr>
        <p:spPr>
          <a:xfrm>
            <a:off x="0" y="0"/>
            <a:ext cx="12189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f5c36a2d05_0_749"/>
          <p:cNvGrpSpPr/>
          <p:nvPr/>
        </p:nvGrpSpPr>
        <p:grpSpPr>
          <a:xfrm>
            <a:off x="1106914" y="1588427"/>
            <a:ext cx="994103" cy="61102"/>
            <a:chOff x="4580561" y="2589004"/>
            <a:chExt cx="1064464" cy="25200"/>
          </a:xfrm>
        </p:grpSpPr>
        <p:sp>
          <p:nvSpPr>
            <p:cNvPr id="34" name="Google Shape;34;g3f5c36a2d05_0_74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f5c36a2d05_0_74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f5c36a2d05_0_749"/>
          <p:cNvSpPr txBox="1"/>
          <p:nvPr>
            <p:ph type="title"/>
          </p:nvPr>
        </p:nvSpPr>
        <p:spPr>
          <a:xfrm>
            <a:off x="972357" y="1758200"/>
            <a:ext cx="10248600" cy="713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g3f5c36a2d05_0_749"/>
          <p:cNvSpPr txBox="1"/>
          <p:nvPr>
            <p:ph idx="1" type="body"/>
          </p:nvPr>
        </p:nvSpPr>
        <p:spPr>
          <a:xfrm>
            <a:off x="972190" y="2771833"/>
            <a:ext cx="5031000" cy="301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g3f5c36a2d05_0_749"/>
          <p:cNvSpPr txBox="1"/>
          <p:nvPr>
            <p:ph idx="2" type="body"/>
          </p:nvPr>
        </p:nvSpPr>
        <p:spPr>
          <a:xfrm>
            <a:off x="6189922" y="2771833"/>
            <a:ext cx="5031000" cy="301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3f5c36a2d05_0_749"/>
          <p:cNvSpPr txBox="1"/>
          <p:nvPr>
            <p:ph idx="12" type="sldNum"/>
          </p:nvPr>
        </p:nvSpPr>
        <p:spPr>
          <a:xfrm>
            <a:off x="11378889" y="6333134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5c36a2d05_0_758"/>
          <p:cNvSpPr/>
          <p:nvPr/>
        </p:nvSpPr>
        <p:spPr>
          <a:xfrm>
            <a:off x="0" y="0"/>
            <a:ext cx="12189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f5c36a2d05_0_758"/>
          <p:cNvGrpSpPr/>
          <p:nvPr/>
        </p:nvGrpSpPr>
        <p:grpSpPr>
          <a:xfrm>
            <a:off x="1106914" y="1588427"/>
            <a:ext cx="994103" cy="61102"/>
            <a:chOff x="4580561" y="2589004"/>
            <a:chExt cx="1064464" cy="25200"/>
          </a:xfrm>
        </p:grpSpPr>
        <p:sp>
          <p:nvSpPr>
            <p:cNvPr id="43" name="Google Shape;43;g3f5c36a2d05_0_75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f5c36a2d05_0_7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f5c36a2d05_0_758"/>
          <p:cNvSpPr txBox="1"/>
          <p:nvPr>
            <p:ph type="title"/>
          </p:nvPr>
        </p:nvSpPr>
        <p:spPr>
          <a:xfrm>
            <a:off x="972357" y="1758200"/>
            <a:ext cx="10248600" cy="713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g3f5c36a2d05_0_758"/>
          <p:cNvSpPr txBox="1"/>
          <p:nvPr>
            <p:ph idx="12" type="sldNum"/>
          </p:nvPr>
        </p:nvSpPr>
        <p:spPr>
          <a:xfrm>
            <a:off x="11378889" y="6333134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5c36a2d05_0_765"/>
          <p:cNvSpPr/>
          <p:nvPr/>
        </p:nvSpPr>
        <p:spPr>
          <a:xfrm>
            <a:off x="0" y="0"/>
            <a:ext cx="12189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f5c36a2d05_0_765"/>
          <p:cNvGrpSpPr/>
          <p:nvPr/>
        </p:nvGrpSpPr>
        <p:grpSpPr>
          <a:xfrm>
            <a:off x="1106914" y="1588427"/>
            <a:ext cx="994103" cy="61102"/>
            <a:chOff x="4580561" y="2589004"/>
            <a:chExt cx="1064464" cy="25200"/>
          </a:xfrm>
        </p:grpSpPr>
        <p:sp>
          <p:nvSpPr>
            <p:cNvPr id="50" name="Google Shape;50;g3f5c36a2d05_0_76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f5c36a2d05_0_7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f5c36a2d05_0_765"/>
          <p:cNvSpPr txBox="1"/>
          <p:nvPr>
            <p:ph type="title"/>
          </p:nvPr>
        </p:nvSpPr>
        <p:spPr>
          <a:xfrm>
            <a:off x="973090" y="1758200"/>
            <a:ext cx="4400100" cy="1842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g3f5c36a2d05_0_765"/>
          <p:cNvSpPr txBox="1"/>
          <p:nvPr>
            <p:ph idx="1" type="body"/>
          </p:nvPr>
        </p:nvSpPr>
        <p:spPr>
          <a:xfrm>
            <a:off x="961393" y="3708967"/>
            <a:ext cx="4400100" cy="2130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f5c36a2d05_0_765"/>
          <p:cNvSpPr txBox="1"/>
          <p:nvPr>
            <p:ph idx="12" type="sldNum"/>
          </p:nvPr>
        </p:nvSpPr>
        <p:spPr>
          <a:xfrm>
            <a:off x="11378889" y="6333134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f5c36a2d05_0_773"/>
          <p:cNvGrpSpPr/>
          <p:nvPr/>
        </p:nvGrpSpPr>
        <p:grpSpPr>
          <a:xfrm>
            <a:off x="1106914" y="5558926"/>
            <a:ext cx="994103" cy="61102"/>
            <a:chOff x="4580561" y="2589004"/>
            <a:chExt cx="1064464" cy="25200"/>
          </a:xfrm>
        </p:grpSpPr>
        <p:sp>
          <p:nvSpPr>
            <p:cNvPr id="57" name="Google Shape;57;g3f5c36a2d05_0_77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f5c36a2d05_0_77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f5c36a2d05_0_773"/>
          <p:cNvSpPr txBox="1"/>
          <p:nvPr>
            <p:ph type="title"/>
          </p:nvPr>
        </p:nvSpPr>
        <p:spPr>
          <a:xfrm>
            <a:off x="972357" y="1152400"/>
            <a:ext cx="9359400" cy="3980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f5c36a2d05_0_773"/>
          <p:cNvSpPr txBox="1"/>
          <p:nvPr>
            <p:ph idx="12" type="sldNum"/>
          </p:nvPr>
        </p:nvSpPr>
        <p:spPr>
          <a:xfrm>
            <a:off x="11378889" y="6333134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c36a2d05_0_779"/>
          <p:cNvSpPr/>
          <p:nvPr/>
        </p:nvSpPr>
        <p:spPr>
          <a:xfrm>
            <a:off x="0" y="0"/>
            <a:ext cx="6094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f5c36a2d05_0_779"/>
          <p:cNvGrpSpPr/>
          <p:nvPr/>
        </p:nvGrpSpPr>
        <p:grpSpPr>
          <a:xfrm>
            <a:off x="1106914" y="1588427"/>
            <a:ext cx="994103" cy="61102"/>
            <a:chOff x="4580561" y="2589004"/>
            <a:chExt cx="1064464" cy="25200"/>
          </a:xfrm>
        </p:grpSpPr>
        <p:sp>
          <p:nvSpPr>
            <p:cNvPr id="64" name="Google Shape;64;g3f5c36a2d05_0_77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f5c36a2d05_0_77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f5c36a2d05_0_779"/>
          <p:cNvSpPr txBox="1"/>
          <p:nvPr>
            <p:ph type="title"/>
          </p:nvPr>
        </p:nvSpPr>
        <p:spPr>
          <a:xfrm>
            <a:off x="973090" y="1758200"/>
            <a:ext cx="4400100" cy="2249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g3f5c36a2d05_0_779"/>
          <p:cNvSpPr txBox="1"/>
          <p:nvPr>
            <p:ph idx="1" type="subTitle"/>
          </p:nvPr>
        </p:nvSpPr>
        <p:spPr>
          <a:xfrm>
            <a:off x="966358" y="4215367"/>
            <a:ext cx="4400100" cy="1011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g3f5c36a2d05_0_779"/>
          <p:cNvSpPr txBox="1"/>
          <p:nvPr>
            <p:ph idx="2" type="body"/>
          </p:nvPr>
        </p:nvSpPr>
        <p:spPr>
          <a:xfrm>
            <a:off x="6897241" y="1803500"/>
            <a:ext cx="4498200" cy="40341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g3f5c36a2d05_0_779"/>
          <p:cNvSpPr txBox="1"/>
          <p:nvPr>
            <p:ph idx="12" type="sldNum"/>
          </p:nvPr>
        </p:nvSpPr>
        <p:spPr>
          <a:xfrm>
            <a:off x="11378889" y="6333134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c36a2d05_0_788"/>
          <p:cNvSpPr txBox="1"/>
          <p:nvPr>
            <p:ph idx="1" type="body"/>
          </p:nvPr>
        </p:nvSpPr>
        <p:spPr>
          <a:xfrm>
            <a:off x="966358" y="5830068"/>
            <a:ext cx="10260600" cy="614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g3f5c36a2d05_0_788"/>
          <p:cNvSpPr txBox="1"/>
          <p:nvPr>
            <p:ph idx="12" type="sldNum"/>
          </p:nvPr>
        </p:nvSpPr>
        <p:spPr>
          <a:xfrm>
            <a:off x="11378889" y="6333134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f5c36a2d05_0_791"/>
          <p:cNvGrpSpPr/>
          <p:nvPr/>
        </p:nvGrpSpPr>
        <p:grpSpPr>
          <a:xfrm>
            <a:off x="1106914" y="5558926"/>
            <a:ext cx="994103" cy="61102"/>
            <a:chOff x="4580561" y="2589004"/>
            <a:chExt cx="1064464" cy="25200"/>
          </a:xfrm>
        </p:grpSpPr>
        <p:sp>
          <p:nvSpPr>
            <p:cNvPr id="75" name="Google Shape;75;g3f5c36a2d05_0_79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f5c36a2d05_0_79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f5c36a2d05_0_791"/>
          <p:cNvSpPr txBox="1"/>
          <p:nvPr>
            <p:ph hasCustomPrompt="1" type="title"/>
          </p:nvPr>
        </p:nvSpPr>
        <p:spPr>
          <a:xfrm>
            <a:off x="972357" y="978600"/>
            <a:ext cx="10248600" cy="16596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f5c36a2d05_0_791"/>
          <p:cNvSpPr txBox="1"/>
          <p:nvPr>
            <p:ph idx="1" type="body"/>
          </p:nvPr>
        </p:nvSpPr>
        <p:spPr>
          <a:xfrm>
            <a:off x="972357" y="3030517"/>
            <a:ext cx="10248600" cy="2107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f5c36a2d05_0_791"/>
          <p:cNvSpPr txBox="1"/>
          <p:nvPr>
            <p:ph idx="12" type="sldNum"/>
          </p:nvPr>
        </p:nvSpPr>
        <p:spPr>
          <a:xfrm>
            <a:off x="11378889" y="6333134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c36a2d05_0_798"/>
          <p:cNvSpPr txBox="1"/>
          <p:nvPr>
            <p:ph idx="12" type="sldNum"/>
          </p:nvPr>
        </p:nvSpPr>
        <p:spPr>
          <a:xfrm>
            <a:off x="11378889" y="6333134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5c36a2d05_0_8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4" name="Google Shape;84;g3f5c36a2d05_0_80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g3f5c36a2d05_0_80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5c36a2d05_0_80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f5c36a2d05_0_80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5c36a2d05_0_723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f5c36a2d05_0_723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f5c36a2d05_0_723"/>
          <p:cNvSpPr txBox="1"/>
          <p:nvPr>
            <p:ph idx="12" type="sldNum"/>
          </p:nvPr>
        </p:nvSpPr>
        <p:spPr>
          <a:xfrm>
            <a:off x="11378889" y="6333134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5c36a2d05_0_0"/>
          <p:cNvSpPr txBox="1"/>
          <p:nvPr>
            <p:ph type="ctrTitle"/>
          </p:nvPr>
        </p:nvSpPr>
        <p:spPr>
          <a:xfrm>
            <a:off x="970332" y="2319142"/>
            <a:ext cx="10248300" cy="2219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Pager Rotation Duties in DevOps</a:t>
            </a:r>
            <a:endParaRPr sz="26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972357" y="1758200"/>
            <a:ext cx="102489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Pager Rotation?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972357" y="2771833"/>
            <a:ext cx="102489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Developers and Operations share on-call responsibilities.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Engineers respond to production incidents.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Builds accountability for software reliability.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972357" y="1758200"/>
            <a:ext cx="102489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 of Shared On-Call Responsibilities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972357" y="2771833"/>
            <a:ext cx="102489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Faster incident response and resolution.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Developers receive direct production feedback.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Improves code quality and collaboration.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'Done' means stable in production, not just deployed.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972357" y="1758200"/>
            <a:ext cx="102489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Practices for Effective Pager Rotations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972357" y="2771833"/>
            <a:ext cx="102489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Rotate fairly across qualified engineers.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Document runbooks and escalation paths.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Use monitoring and alert tuning.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Conduct blameless postmortems.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Track metrics (MTTR, alert volume, incidents).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972357" y="1758200"/>
            <a:ext cx="102489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Reducing Burnout While Improving Reliability</a:t>
            </a:r>
            <a:endParaRPr/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972357" y="2771833"/>
            <a:ext cx="102489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Limit consecutive on-call shifts.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Provide backup coverage.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Reduce alert fatigue through better alerting.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Review schedules regularly.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Compensate or provide time off after demanding rotations.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972357" y="1758200"/>
            <a:ext cx="102489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Takeaways from The DevOps Handbook</a:t>
            </a:r>
            <a:endParaRPr/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972357" y="2771833"/>
            <a:ext cx="102489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The DevOps Handbook recommends developers, managers, and architects share pager duty.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Direct exposure to incidents drives faster fixes.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Shared ownership aligns development and operations.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Reliable production systems become everyone's responsibility.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972357" y="1758200"/>
            <a:ext cx="102489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972357" y="2771833"/>
            <a:ext cx="102489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Kim, G., Humble, J., Debois, P., &amp; Willis, J. (The DevOps Handbook, Ch.16).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Scribd: Practices for Pager Rotation Duties.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Medium: How to Run Effective On-Call Rotations Without Burning Out Your DevOps Team.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Additional: Google SRE Workbook (On-Call).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