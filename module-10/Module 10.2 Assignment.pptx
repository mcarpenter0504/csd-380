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8EA0A-41E0-1C7B-C52E-A05D95CB3171}" v="129" dt="2026-08-17T03:45:38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445FD4-BEF6-4643-8889-0C9A0ECF4208}" type="doc">
      <dgm:prSet loTypeId="urn:microsoft.com/office/officeart/2005/8/layout/hierarchy1" loCatId="hierarchy" qsTypeId="urn:microsoft.com/office/officeart/2005/8/quickstyle/simple1#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E048F18-1691-4FFF-BB3B-F130CFF42E4E}">
      <dgm:prSet/>
      <dgm:spPr/>
      <dgm:t>
        <a:bodyPr/>
        <a:lstStyle/>
        <a:p>
          <a:r>
            <a:rPr lang="en-US"/>
            <a:t>Repositories store the organization’s most critical intellectual property.</a:t>
          </a:r>
        </a:p>
      </dgm:t>
    </dgm:pt>
    <dgm:pt modelId="{CEA06D7A-3D04-451F-98D9-5B5FD8DE08F1}" type="parTrans" cxnId="{4BD95105-6C3F-43FA-80E0-EABEF29774A1}">
      <dgm:prSet/>
      <dgm:spPr/>
      <dgm:t>
        <a:bodyPr/>
        <a:lstStyle/>
        <a:p>
          <a:endParaRPr lang="en-US"/>
        </a:p>
      </dgm:t>
    </dgm:pt>
    <dgm:pt modelId="{C0E0DFFF-60FE-4427-889A-069C42A981C7}" type="sibTrans" cxnId="{4BD95105-6C3F-43FA-80E0-EABEF29774A1}">
      <dgm:prSet/>
      <dgm:spPr/>
      <dgm:t>
        <a:bodyPr/>
        <a:lstStyle/>
        <a:p>
          <a:endParaRPr lang="en-US"/>
        </a:p>
      </dgm:t>
    </dgm:pt>
    <dgm:pt modelId="{D9DA32E0-3FC2-47F0-86C2-9AC9B02BAC39}">
      <dgm:prSet/>
      <dgm:spPr/>
      <dgm:t>
        <a:bodyPr/>
        <a:lstStyle/>
        <a:p>
          <a:r>
            <a:rPr lang="en-US"/>
            <a:t>Unauthorized access can lead to credential leaks, supply‑chain attacks, and compromised applications.</a:t>
          </a:r>
        </a:p>
      </dgm:t>
    </dgm:pt>
    <dgm:pt modelId="{C7B50F50-B4FA-4ACF-A07F-46D684B351AF}" type="parTrans" cxnId="{EF30E9BA-4262-4C48-B552-FFE6351FFD9C}">
      <dgm:prSet/>
      <dgm:spPr/>
      <dgm:t>
        <a:bodyPr/>
        <a:lstStyle/>
        <a:p>
          <a:endParaRPr lang="en-US"/>
        </a:p>
      </dgm:t>
    </dgm:pt>
    <dgm:pt modelId="{1921C69E-146D-4EAA-B1F6-237C86F34067}" type="sibTrans" cxnId="{EF30E9BA-4262-4C48-B552-FFE6351FFD9C}">
      <dgm:prSet/>
      <dgm:spPr/>
      <dgm:t>
        <a:bodyPr/>
        <a:lstStyle/>
        <a:p>
          <a:endParaRPr lang="en-US"/>
        </a:p>
      </dgm:t>
    </dgm:pt>
    <dgm:pt modelId="{5FC8E580-9DCC-4213-A92E-3DBD6E97E267}">
      <dgm:prSet/>
      <dgm:spPr/>
      <dgm:t>
        <a:bodyPr/>
        <a:lstStyle/>
        <a:p>
          <a:r>
            <a:rPr lang="en-US"/>
            <a:t>Shared repositories increase collaboration but also expand the attack surface.</a:t>
          </a:r>
        </a:p>
      </dgm:t>
    </dgm:pt>
    <dgm:pt modelId="{FD36BEE1-2A52-4785-A3B8-6A612DFD522E}" type="parTrans" cxnId="{052796B0-B684-4297-A69D-E6323F64DFD6}">
      <dgm:prSet/>
      <dgm:spPr/>
      <dgm:t>
        <a:bodyPr/>
        <a:lstStyle/>
        <a:p>
          <a:endParaRPr lang="en-US"/>
        </a:p>
      </dgm:t>
    </dgm:pt>
    <dgm:pt modelId="{696F0565-7C35-4B7A-BA0B-0BA7B849D473}" type="sibTrans" cxnId="{052796B0-B684-4297-A69D-E6323F64DFD6}">
      <dgm:prSet/>
      <dgm:spPr/>
      <dgm:t>
        <a:bodyPr/>
        <a:lstStyle/>
        <a:p>
          <a:endParaRPr lang="en-US"/>
        </a:p>
      </dgm:t>
    </dgm:pt>
    <dgm:pt modelId="{DB8E8E5A-AEA6-4EE9-83DD-5B4C6C26E570}" type="pres">
      <dgm:prSet presAssocID="{2E445FD4-BEF6-4643-8889-0C9A0ECF42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133272-0151-422E-8415-7AD51FB27F47}" type="pres">
      <dgm:prSet presAssocID="{AE048F18-1691-4FFF-BB3B-F130CFF42E4E}" presName="hierRoot1" presStyleCnt="0"/>
      <dgm:spPr/>
    </dgm:pt>
    <dgm:pt modelId="{C4CCEF3A-38F2-4E43-BC1F-F8461E8DE842}" type="pres">
      <dgm:prSet presAssocID="{AE048F18-1691-4FFF-BB3B-F130CFF42E4E}" presName="composite" presStyleCnt="0"/>
      <dgm:spPr/>
    </dgm:pt>
    <dgm:pt modelId="{4132DFEC-F1DB-43FD-98AD-000A6EF286BB}" type="pres">
      <dgm:prSet presAssocID="{AE048F18-1691-4FFF-BB3B-F130CFF42E4E}" presName="background" presStyleLbl="node0" presStyleIdx="0" presStyleCnt="3"/>
      <dgm:spPr/>
    </dgm:pt>
    <dgm:pt modelId="{D65A70B4-2AC4-4014-ACEC-2E00500BD2A8}" type="pres">
      <dgm:prSet presAssocID="{AE048F18-1691-4FFF-BB3B-F130CFF42E4E}" presName="text" presStyleLbl="fgAcc0" presStyleIdx="0" presStyleCnt="3">
        <dgm:presLayoutVars>
          <dgm:chPref val="3"/>
        </dgm:presLayoutVars>
      </dgm:prSet>
      <dgm:spPr/>
    </dgm:pt>
    <dgm:pt modelId="{4E37ECC1-1DE2-4239-AC22-A828D4042970}" type="pres">
      <dgm:prSet presAssocID="{AE048F18-1691-4FFF-BB3B-F130CFF42E4E}" presName="hierChild2" presStyleCnt="0"/>
      <dgm:spPr/>
    </dgm:pt>
    <dgm:pt modelId="{019E4564-7FE0-46E8-8A63-157E272133F0}" type="pres">
      <dgm:prSet presAssocID="{D9DA32E0-3FC2-47F0-86C2-9AC9B02BAC39}" presName="hierRoot1" presStyleCnt="0"/>
      <dgm:spPr/>
    </dgm:pt>
    <dgm:pt modelId="{B1E14FF1-D62F-4EA1-8E0E-B147FBDF3C3F}" type="pres">
      <dgm:prSet presAssocID="{D9DA32E0-3FC2-47F0-86C2-9AC9B02BAC39}" presName="composite" presStyleCnt="0"/>
      <dgm:spPr/>
    </dgm:pt>
    <dgm:pt modelId="{02D59B3E-A848-4628-B8BB-366E8D440602}" type="pres">
      <dgm:prSet presAssocID="{D9DA32E0-3FC2-47F0-86C2-9AC9B02BAC39}" presName="background" presStyleLbl="node0" presStyleIdx="1" presStyleCnt="3"/>
      <dgm:spPr/>
    </dgm:pt>
    <dgm:pt modelId="{57971F89-729A-4865-9514-582EB0BC2B17}" type="pres">
      <dgm:prSet presAssocID="{D9DA32E0-3FC2-47F0-86C2-9AC9B02BAC39}" presName="text" presStyleLbl="fgAcc0" presStyleIdx="1" presStyleCnt="3">
        <dgm:presLayoutVars>
          <dgm:chPref val="3"/>
        </dgm:presLayoutVars>
      </dgm:prSet>
      <dgm:spPr/>
    </dgm:pt>
    <dgm:pt modelId="{A6B21A3F-C6BD-4BDE-A739-676BB166257E}" type="pres">
      <dgm:prSet presAssocID="{D9DA32E0-3FC2-47F0-86C2-9AC9B02BAC39}" presName="hierChild2" presStyleCnt="0"/>
      <dgm:spPr/>
    </dgm:pt>
    <dgm:pt modelId="{06CE73B1-D8F5-4650-A419-D50F5DC8B1B4}" type="pres">
      <dgm:prSet presAssocID="{5FC8E580-9DCC-4213-A92E-3DBD6E97E267}" presName="hierRoot1" presStyleCnt="0"/>
      <dgm:spPr/>
    </dgm:pt>
    <dgm:pt modelId="{7DF8A2C2-4A80-4640-AA75-771DFCC342EF}" type="pres">
      <dgm:prSet presAssocID="{5FC8E580-9DCC-4213-A92E-3DBD6E97E267}" presName="composite" presStyleCnt="0"/>
      <dgm:spPr/>
    </dgm:pt>
    <dgm:pt modelId="{1DC5879F-6179-4176-90DE-46945B33808C}" type="pres">
      <dgm:prSet presAssocID="{5FC8E580-9DCC-4213-A92E-3DBD6E97E267}" presName="background" presStyleLbl="node0" presStyleIdx="2" presStyleCnt="3"/>
      <dgm:spPr/>
    </dgm:pt>
    <dgm:pt modelId="{8F115820-4A8D-4931-BB6C-30E50CCB2163}" type="pres">
      <dgm:prSet presAssocID="{5FC8E580-9DCC-4213-A92E-3DBD6E97E267}" presName="text" presStyleLbl="fgAcc0" presStyleIdx="2" presStyleCnt="3">
        <dgm:presLayoutVars>
          <dgm:chPref val="3"/>
        </dgm:presLayoutVars>
      </dgm:prSet>
      <dgm:spPr/>
    </dgm:pt>
    <dgm:pt modelId="{BF1F9028-DD29-4B77-B6BB-45BE6A35FBC9}" type="pres">
      <dgm:prSet presAssocID="{5FC8E580-9DCC-4213-A92E-3DBD6E97E267}" presName="hierChild2" presStyleCnt="0"/>
      <dgm:spPr/>
    </dgm:pt>
  </dgm:ptLst>
  <dgm:cxnLst>
    <dgm:cxn modelId="{4BD95105-6C3F-43FA-80E0-EABEF29774A1}" srcId="{2E445FD4-BEF6-4643-8889-0C9A0ECF4208}" destId="{AE048F18-1691-4FFF-BB3B-F130CFF42E4E}" srcOrd="0" destOrd="0" parTransId="{CEA06D7A-3D04-451F-98D9-5B5FD8DE08F1}" sibTransId="{C0E0DFFF-60FE-4427-889A-069C42A981C7}"/>
    <dgm:cxn modelId="{43C11B27-195D-4ADE-AC18-945640AC4D37}" type="presOf" srcId="{5FC8E580-9DCC-4213-A92E-3DBD6E97E267}" destId="{8F115820-4A8D-4931-BB6C-30E50CCB2163}" srcOrd="0" destOrd="0" presId="urn:microsoft.com/office/officeart/2005/8/layout/hierarchy1"/>
    <dgm:cxn modelId="{CCC9455C-BEAB-4989-A729-72626DE23815}" type="presOf" srcId="{AE048F18-1691-4FFF-BB3B-F130CFF42E4E}" destId="{D65A70B4-2AC4-4014-ACEC-2E00500BD2A8}" srcOrd="0" destOrd="0" presId="urn:microsoft.com/office/officeart/2005/8/layout/hierarchy1"/>
    <dgm:cxn modelId="{052796B0-B684-4297-A69D-E6323F64DFD6}" srcId="{2E445FD4-BEF6-4643-8889-0C9A0ECF4208}" destId="{5FC8E580-9DCC-4213-A92E-3DBD6E97E267}" srcOrd="2" destOrd="0" parTransId="{FD36BEE1-2A52-4785-A3B8-6A612DFD522E}" sibTransId="{696F0565-7C35-4B7A-BA0B-0BA7B849D473}"/>
    <dgm:cxn modelId="{68B8E7B7-0E3B-47C7-81C8-FF5BB165981B}" type="presOf" srcId="{D9DA32E0-3FC2-47F0-86C2-9AC9B02BAC39}" destId="{57971F89-729A-4865-9514-582EB0BC2B17}" srcOrd="0" destOrd="0" presId="urn:microsoft.com/office/officeart/2005/8/layout/hierarchy1"/>
    <dgm:cxn modelId="{EF30E9BA-4262-4C48-B552-FFE6351FFD9C}" srcId="{2E445FD4-BEF6-4643-8889-0C9A0ECF4208}" destId="{D9DA32E0-3FC2-47F0-86C2-9AC9B02BAC39}" srcOrd="1" destOrd="0" parTransId="{C7B50F50-B4FA-4ACF-A07F-46D684B351AF}" sibTransId="{1921C69E-146D-4EAA-B1F6-237C86F34067}"/>
    <dgm:cxn modelId="{69892CCC-0F8E-4C0B-B7C3-8E836929E69B}" type="presOf" srcId="{2E445FD4-BEF6-4643-8889-0C9A0ECF4208}" destId="{DB8E8E5A-AEA6-4EE9-83DD-5B4C6C26E570}" srcOrd="0" destOrd="0" presId="urn:microsoft.com/office/officeart/2005/8/layout/hierarchy1"/>
    <dgm:cxn modelId="{8D496076-DFDB-4701-8641-B13F6E23419C}" type="presParOf" srcId="{DB8E8E5A-AEA6-4EE9-83DD-5B4C6C26E570}" destId="{70133272-0151-422E-8415-7AD51FB27F47}" srcOrd="0" destOrd="0" presId="urn:microsoft.com/office/officeart/2005/8/layout/hierarchy1"/>
    <dgm:cxn modelId="{455C2093-27F6-446A-BDCE-CBD81938864A}" type="presParOf" srcId="{70133272-0151-422E-8415-7AD51FB27F47}" destId="{C4CCEF3A-38F2-4E43-BC1F-F8461E8DE842}" srcOrd="0" destOrd="0" presId="urn:microsoft.com/office/officeart/2005/8/layout/hierarchy1"/>
    <dgm:cxn modelId="{B77EB3BA-90FA-442D-9B99-87B49CD1ACEB}" type="presParOf" srcId="{C4CCEF3A-38F2-4E43-BC1F-F8461E8DE842}" destId="{4132DFEC-F1DB-43FD-98AD-000A6EF286BB}" srcOrd="0" destOrd="0" presId="urn:microsoft.com/office/officeart/2005/8/layout/hierarchy1"/>
    <dgm:cxn modelId="{DBFDB294-39FA-46AA-881B-B9131FFD9978}" type="presParOf" srcId="{C4CCEF3A-38F2-4E43-BC1F-F8461E8DE842}" destId="{D65A70B4-2AC4-4014-ACEC-2E00500BD2A8}" srcOrd="1" destOrd="0" presId="urn:microsoft.com/office/officeart/2005/8/layout/hierarchy1"/>
    <dgm:cxn modelId="{E8CA1149-09BD-4029-B81E-0EB6FFDE630B}" type="presParOf" srcId="{70133272-0151-422E-8415-7AD51FB27F47}" destId="{4E37ECC1-1DE2-4239-AC22-A828D4042970}" srcOrd="1" destOrd="0" presId="urn:microsoft.com/office/officeart/2005/8/layout/hierarchy1"/>
    <dgm:cxn modelId="{B721B068-1880-4C79-A286-B532B64B25A4}" type="presParOf" srcId="{DB8E8E5A-AEA6-4EE9-83DD-5B4C6C26E570}" destId="{019E4564-7FE0-46E8-8A63-157E272133F0}" srcOrd="1" destOrd="0" presId="urn:microsoft.com/office/officeart/2005/8/layout/hierarchy1"/>
    <dgm:cxn modelId="{0B45C100-1277-433D-B4E9-5910F1FF29B2}" type="presParOf" srcId="{019E4564-7FE0-46E8-8A63-157E272133F0}" destId="{B1E14FF1-D62F-4EA1-8E0E-B147FBDF3C3F}" srcOrd="0" destOrd="0" presId="urn:microsoft.com/office/officeart/2005/8/layout/hierarchy1"/>
    <dgm:cxn modelId="{4FF196F7-F8D2-477D-9D93-E28F1E54A03F}" type="presParOf" srcId="{B1E14FF1-D62F-4EA1-8E0E-B147FBDF3C3F}" destId="{02D59B3E-A848-4628-B8BB-366E8D440602}" srcOrd="0" destOrd="0" presId="urn:microsoft.com/office/officeart/2005/8/layout/hierarchy1"/>
    <dgm:cxn modelId="{2A92C929-DDF8-484E-8010-DD02C37253EE}" type="presParOf" srcId="{B1E14FF1-D62F-4EA1-8E0E-B147FBDF3C3F}" destId="{57971F89-729A-4865-9514-582EB0BC2B17}" srcOrd="1" destOrd="0" presId="urn:microsoft.com/office/officeart/2005/8/layout/hierarchy1"/>
    <dgm:cxn modelId="{5D203F34-FFF5-4B9D-819E-AE84D314B89A}" type="presParOf" srcId="{019E4564-7FE0-46E8-8A63-157E272133F0}" destId="{A6B21A3F-C6BD-4BDE-A739-676BB166257E}" srcOrd="1" destOrd="0" presId="urn:microsoft.com/office/officeart/2005/8/layout/hierarchy1"/>
    <dgm:cxn modelId="{DB030701-83B1-4A86-9F4B-C250C6140D47}" type="presParOf" srcId="{DB8E8E5A-AEA6-4EE9-83DD-5B4C6C26E570}" destId="{06CE73B1-D8F5-4650-A419-D50F5DC8B1B4}" srcOrd="2" destOrd="0" presId="urn:microsoft.com/office/officeart/2005/8/layout/hierarchy1"/>
    <dgm:cxn modelId="{60F31A48-1D70-4FC0-8869-ED44652EB553}" type="presParOf" srcId="{06CE73B1-D8F5-4650-A419-D50F5DC8B1B4}" destId="{7DF8A2C2-4A80-4640-AA75-771DFCC342EF}" srcOrd="0" destOrd="0" presId="urn:microsoft.com/office/officeart/2005/8/layout/hierarchy1"/>
    <dgm:cxn modelId="{14318CC7-3F34-4645-8FB4-CC4D554367DE}" type="presParOf" srcId="{7DF8A2C2-4A80-4640-AA75-771DFCC342EF}" destId="{1DC5879F-6179-4176-90DE-46945B33808C}" srcOrd="0" destOrd="0" presId="urn:microsoft.com/office/officeart/2005/8/layout/hierarchy1"/>
    <dgm:cxn modelId="{380DC363-CA1D-4047-AE62-D1CA8FE9C1C3}" type="presParOf" srcId="{7DF8A2C2-4A80-4640-AA75-771DFCC342EF}" destId="{8F115820-4A8D-4931-BB6C-30E50CCB2163}" srcOrd="1" destOrd="0" presId="urn:microsoft.com/office/officeart/2005/8/layout/hierarchy1"/>
    <dgm:cxn modelId="{476D0934-B70B-4467-8BFF-E2BCF5C9444B}" type="presParOf" srcId="{06CE73B1-D8F5-4650-A419-D50F5DC8B1B4}" destId="{BF1F9028-DD29-4B77-B6BB-45BE6A35FBC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2DFEC-F1DB-43FD-98AD-000A6EF286BB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A70B4-2AC4-4014-ACEC-2E00500BD2A8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Repositories store the organization’s most critical intellectual property.</a:t>
          </a:r>
        </a:p>
      </dsp:txBody>
      <dsp:txXfrm>
        <a:off x="378614" y="886531"/>
        <a:ext cx="2810360" cy="1744948"/>
      </dsp:txXfrm>
    </dsp:sp>
    <dsp:sp modelId="{02D59B3E-A848-4628-B8BB-366E8D44060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71F89-729A-4865-9514-582EB0BC2B17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Unauthorized access can lead to credential leaks, supply‑chain attacks, and compromised applications.</a:t>
          </a:r>
        </a:p>
      </dsp:txBody>
      <dsp:txXfrm>
        <a:off x="3946203" y="886531"/>
        <a:ext cx="2810360" cy="1744948"/>
      </dsp:txXfrm>
    </dsp:sp>
    <dsp:sp modelId="{1DC5879F-6179-4176-90DE-46945B33808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15820-4A8D-4931-BB6C-30E50CCB2163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Shared repositories increase collaboration but also expand the attack surface.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david-e/source-code-security-tryhackme-writeup-walkthrough-e2c48723e933" TargetMode="External"/><Relationship Id="rId2" Type="http://schemas.openxmlformats.org/officeDocument/2006/relationships/hyperlink" Target="https://www.harness.io/harness-devops-academy/secure-code-repositories-best-practi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84683"/>
            <a:ext cx="9144000" cy="2551829"/>
          </a:xfrm>
        </p:spPr>
        <p:txBody>
          <a:bodyPr anchor="ctr">
            <a:normAutofit/>
          </a:bodyPr>
          <a:lstStyle/>
          <a:p>
            <a:r>
              <a:rPr lang="en-US" sz="5600" b="1">
                <a:latin typeface="Aptos"/>
              </a:rPr>
              <a:t>Security Controls in Shared Source Code Repositories</a:t>
            </a:r>
            <a:endParaRPr lang="en-US" sz="56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02096-D61D-8C1D-12A6-7EC5F129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Aptos"/>
              </a:rPr>
              <a:t>Why Securing Code Repositories Matters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CBFB33-681A-0D72-CF81-4F98E97A7D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19991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503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085D-FC5F-E433-116E-AEC0B93B5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2500" b="1">
                <a:latin typeface="Aptos"/>
              </a:rPr>
              <a:t>Access Control &amp; Permissions</a:t>
            </a:r>
            <a:br>
              <a:rPr lang="en-US" sz="2500" b="1">
                <a:latin typeface="Aptos"/>
              </a:rPr>
            </a:br>
            <a:br>
              <a:rPr lang="en-US" sz="2500" b="1">
                <a:latin typeface="Aptos"/>
              </a:rPr>
            </a:br>
            <a:r>
              <a:rPr lang="en-US" sz="2500" b="1">
                <a:latin typeface="Aptos"/>
              </a:rPr>
              <a:t>Best Practices:</a:t>
            </a:r>
            <a:endParaRPr lang="en-US" sz="250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ontent Placeholder 57">
            <a:extLst>
              <a:ext uri="{FF2B5EF4-FFF2-40B4-BE49-F238E27FC236}">
                <a16:creationId xmlns:a16="http://schemas.microsoft.com/office/drawing/2014/main" id="{B7250D8A-404A-FF35-9A23-6AE22E380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highlight>
                  <a:srgbClr val="FFFFFF"/>
                </a:highlight>
              </a:rPr>
              <a:t>Enforce </a:t>
            </a:r>
            <a:r>
              <a:rPr lang="en-US" sz="2000" b="1">
                <a:highlight>
                  <a:srgbClr val="FFFFFF"/>
                </a:highlight>
              </a:rPr>
              <a:t>least privilege</a:t>
            </a:r>
            <a:r>
              <a:rPr lang="en-US" sz="2000">
                <a:highlight>
                  <a:srgbClr val="FFFFFF"/>
                </a:highlight>
              </a:rPr>
              <a:t> for all users and service accounts.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Use </a:t>
            </a:r>
            <a:r>
              <a:rPr lang="en-US" sz="2000" b="1">
                <a:highlight>
                  <a:srgbClr val="FFFFFF"/>
                </a:highlight>
              </a:rPr>
              <a:t>role</a:t>
            </a:r>
            <a:r>
              <a:rPr lang="en-US" sz="2000">
                <a:highlight>
                  <a:srgbClr val="FFFFFF"/>
                </a:highlight>
              </a:rPr>
              <a:t>‑</a:t>
            </a:r>
            <a:r>
              <a:rPr lang="en-US" sz="2000" b="1">
                <a:highlight>
                  <a:srgbClr val="FFFFFF"/>
                </a:highlight>
              </a:rPr>
              <a:t>based access control (RBAC)</a:t>
            </a:r>
            <a:r>
              <a:rPr lang="en-US" sz="2000">
                <a:highlight>
                  <a:srgbClr val="FFFFFF"/>
                </a:highlight>
              </a:rPr>
              <a:t> to restrict repository actions.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Require </a:t>
            </a:r>
            <a:r>
              <a:rPr lang="en-US" sz="2000" b="1">
                <a:highlight>
                  <a:srgbClr val="FFFFFF"/>
                </a:highlight>
              </a:rPr>
              <a:t>multi</a:t>
            </a:r>
            <a:r>
              <a:rPr lang="en-US" sz="2000">
                <a:highlight>
                  <a:srgbClr val="FFFFFF"/>
                </a:highlight>
              </a:rPr>
              <a:t>‑</a:t>
            </a:r>
            <a:r>
              <a:rPr lang="en-US" sz="2000" b="1">
                <a:highlight>
                  <a:srgbClr val="FFFFFF"/>
                </a:highlight>
              </a:rPr>
              <a:t>factor authentication (MFA)</a:t>
            </a:r>
            <a:r>
              <a:rPr lang="en-US" sz="2000">
                <a:highlight>
                  <a:srgbClr val="FFFFFF"/>
                </a:highlight>
              </a:rPr>
              <a:t> for all contributors.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Regularly audit user access and remove stale accounts.</a:t>
            </a:r>
            <a:endParaRPr lang="en-US" sz="2000">
              <a:highlight>
                <a:srgbClr val="606060"/>
              </a:highlight>
            </a:endParaRPr>
          </a:p>
        </p:txBody>
      </p:sp>
      <p:pic>
        <p:nvPicPr>
          <p:cNvPr id="90" name="Graphic 89" descr="Laptop Secure">
            <a:extLst>
              <a:ext uri="{FF2B5EF4-FFF2-40B4-BE49-F238E27FC236}">
                <a16:creationId xmlns:a16="http://schemas.microsoft.com/office/drawing/2014/main" id="{EAEECAC9-09FD-33A7-D939-ABC13DB1D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1780" y="771753"/>
            <a:ext cx="5316095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56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2" name="Arc 9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A7E26-C241-4F13-630A-FC3304D1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2100" b="1">
                <a:latin typeface="Aptos"/>
              </a:rPr>
              <a:t>Credential Hygiene &amp; Secret Protection</a:t>
            </a:r>
            <a:br>
              <a:rPr lang="en-US" sz="2100" b="1">
                <a:latin typeface="Aptos"/>
              </a:rPr>
            </a:br>
            <a:br>
              <a:rPr lang="en-US" sz="2100" b="1">
                <a:latin typeface="Aptos"/>
              </a:rPr>
            </a:br>
            <a:r>
              <a:rPr lang="en-US" sz="2100" b="1">
                <a:latin typeface="Aptos"/>
              </a:rPr>
              <a:t>Best Practices:</a:t>
            </a:r>
            <a:endParaRPr lang="en-US" sz="210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" name="Graphic 70" descr="Lock">
            <a:extLst>
              <a:ext uri="{FF2B5EF4-FFF2-40B4-BE49-F238E27FC236}">
                <a16:creationId xmlns:a16="http://schemas.microsoft.com/office/drawing/2014/main" id="{7726A16A-E84F-1F62-2AE8-5966FB306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8" name="Content Placeholder 57">
            <a:extLst>
              <a:ext uri="{FF2B5EF4-FFF2-40B4-BE49-F238E27FC236}">
                <a16:creationId xmlns:a16="http://schemas.microsoft.com/office/drawing/2014/main" id="{C9838348-0351-8F18-882E-E2D5BEA6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highlight>
                  <a:srgbClr val="FFFFFF"/>
                </a:highlight>
              </a:rPr>
              <a:t>Never store secrets (API keys, passwords, tokens) directly in code.</a:t>
            </a:r>
            <a:endParaRPr lang="en-US">
              <a:highlight>
                <a:srgbClr val="606060"/>
              </a:highlight>
            </a:endParaRPr>
          </a:p>
          <a:p>
            <a:r>
              <a:rPr lang="en-US">
                <a:highlight>
                  <a:srgbClr val="FFFFFF"/>
                </a:highlight>
              </a:rPr>
              <a:t>Use </a:t>
            </a:r>
            <a:r>
              <a:rPr lang="en-US" b="1">
                <a:highlight>
                  <a:srgbClr val="FFFFFF"/>
                </a:highlight>
              </a:rPr>
              <a:t>environment variables</a:t>
            </a:r>
            <a:r>
              <a:rPr lang="en-US">
                <a:highlight>
                  <a:srgbClr val="FFFFFF"/>
                </a:highlight>
              </a:rPr>
              <a:t> instead of hard‑coded credentials.</a:t>
            </a:r>
            <a:endParaRPr lang="en-US">
              <a:highlight>
                <a:srgbClr val="606060"/>
              </a:highlight>
            </a:endParaRPr>
          </a:p>
          <a:p>
            <a:r>
              <a:rPr lang="en-US">
                <a:highlight>
                  <a:srgbClr val="FFFFFF"/>
                </a:highlight>
              </a:rPr>
              <a:t>Scan repositories for leaked secrets using automated tools.</a:t>
            </a:r>
            <a:endParaRPr lang="en-US">
              <a:highlight>
                <a:srgbClr val="60606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1135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AC4F2-8115-BE35-6C48-7C28C71B8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3300" b="1">
                <a:latin typeface="Aptos"/>
              </a:rPr>
              <a:t>Secure Branching &amp; Version Control Practices</a:t>
            </a:r>
            <a:br>
              <a:rPr lang="en-US" sz="3300" b="1">
                <a:latin typeface="Aptos"/>
              </a:rPr>
            </a:br>
            <a:br>
              <a:rPr lang="en-US" sz="3300" b="1">
                <a:latin typeface="Aptos"/>
              </a:rPr>
            </a:br>
            <a:r>
              <a:rPr lang="en-US" sz="3300" b="1">
                <a:latin typeface="Aptos"/>
              </a:rPr>
              <a:t>Best Practices:</a:t>
            </a:r>
            <a:endParaRPr lang="en-US" sz="3300"/>
          </a:p>
        </p:txBody>
      </p:sp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A7ACA28B-FEF7-0E3E-9188-37ED986376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6250" y="3018327"/>
            <a:ext cx="2728198" cy="27281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2DE0-E5C0-7ABF-6534-23B202ACD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238257" cy="27281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highlight>
                  <a:srgbClr val="FFFFFF"/>
                </a:highlight>
              </a:rPr>
              <a:t>Use isolated </a:t>
            </a:r>
            <a:r>
              <a:rPr lang="en-US" sz="1700" b="1">
                <a:highlight>
                  <a:srgbClr val="FFFFFF"/>
                </a:highlight>
              </a:rPr>
              <a:t>branches</a:t>
            </a:r>
            <a:r>
              <a:rPr lang="en-US" sz="1700">
                <a:highlight>
                  <a:srgbClr val="FFFFFF"/>
                </a:highlight>
              </a:rPr>
              <a:t> for development to reduce accidental exposure.</a:t>
            </a:r>
            <a:endParaRPr lang="en-US" sz="1700">
              <a:highlight>
                <a:srgbClr val="606060"/>
              </a:highlight>
            </a:endParaRPr>
          </a:p>
          <a:p>
            <a:r>
              <a:rPr lang="en-US" sz="1700">
                <a:highlight>
                  <a:srgbClr val="FFFFFF"/>
                </a:highlight>
              </a:rPr>
              <a:t>Protect main branches with </a:t>
            </a:r>
            <a:r>
              <a:rPr lang="en-US" sz="1700" b="1">
                <a:highlight>
                  <a:srgbClr val="FFFFFF"/>
                </a:highlight>
              </a:rPr>
              <a:t>required reviews</a:t>
            </a:r>
            <a:r>
              <a:rPr lang="en-US" sz="1700">
                <a:highlight>
                  <a:srgbClr val="FFFFFF"/>
                </a:highlight>
              </a:rPr>
              <a:t>, </a:t>
            </a:r>
            <a:r>
              <a:rPr lang="en-US" sz="1700" b="1">
                <a:highlight>
                  <a:srgbClr val="FFFFFF"/>
                </a:highlight>
              </a:rPr>
              <a:t>signed commits</a:t>
            </a:r>
            <a:r>
              <a:rPr lang="en-US" sz="1700">
                <a:highlight>
                  <a:srgbClr val="FFFFFF"/>
                </a:highlight>
              </a:rPr>
              <a:t>, and </a:t>
            </a:r>
            <a:r>
              <a:rPr lang="en-US" sz="1700" b="1">
                <a:highlight>
                  <a:srgbClr val="FFFFFF"/>
                </a:highlight>
              </a:rPr>
              <a:t>merge checks</a:t>
            </a:r>
            <a:r>
              <a:rPr lang="en-US" sz="1700">
                <a:highlight>
                  <a:srgbClr val="FFFFFF"/>
                </a:highlight>
              </a:rPr>
              <a:t>.</a:t>
            </a:r>
            <a:endParaRPr lang="en-US" sz="1700">
              <a:highlight>
                <a:srgbClr val="606060"/>
              </a:highlight>
            </a:endParaRPr>
          </a:p>
          <a:p>
            <a:r>
              <a:rPr lang="en-US" sz="1700">
                <a:highlight>
                  <a:srgbClr val="FFFFFF"/>
                </a:highlight>
              </a:rPr>
              <a:t>Use distributed version control (e.g., Git) to maintain integrity through hashing.</a:t>
            </a:r>
            <a:endParaRPr lang="en-US" sz="1700">
              <a:highlight>
                <a:srgbClr val="606060"/>
              </a:highlight>
            </a:endParaRPr>
          </a:p>
          <a:p>
            <a:r>
              <a:rPr lang="en-US" sz="1700">
                <a:highlight>
                  <a:srgbClr val="FFFFFF"/>
                </a:highlight>
              </a:rPr>
              <a:t>Require pull/merge requests for all changes.</a:t>
            </a:r>
            <a:endParaRPr lang="en-US" sz="1700">
              <a:highlight>
                <a:srgbClr val="60606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6207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C6605-0B11-7342-2937-ED259312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3700" b="1">
                <a:latin typeface="Aptos"/>
              </a:rPr>
              <a:t>Secret Management &amp; CI/CD Security</a:t>
            </a:r>
            <a:br>
              <a:rPr lang="en-US" sz="3700" b="1">
                <a:latin typeface="Aptos"/>
              </a:rPr>
            </a:br>
            <a:br>
              <a:rPr lang="en-US" sz="3700" b="1">
                <a:latin typeface="Aptos"/>
              </a:rPr>
            </a:br>
            <a:r>
              <a:rPr lang="en-US" sz="3700" b="1">
                <a:latin typeface="Aptos"/>
              </a:rPr>
              <a:t>Best Practices: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solidFill>
              <a:srgbClr val="ED7D31"/>
            </a:solidFill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A89FC-5C2B-92F7-8009-2B76758A3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highlight>
                  <a:srgbClr val="FFFFFF"/>
                </a:highlight>
              </a:rPr>
              <a:t>Store sensitive values in a </a:t>
            </a:r>
            <a:r>
              <a:rPr lang="en-US" sz="2200" b="1">
                <a:highlight>
                  <a:srgbClr val="FFFFFF"/>
                </a:highlight>
              </a:rPr>
              <a:t>secret management system</a:t>
            </a:r>
            <a:r>
              <a:rPr lang="en-US" sz="2200">
                <a:highlight>
                  <a:srgbClr val="FFFFFF"/>
                </a:highlight>
              </a:rPr>
              <a:t> (e.g., GitLab CI/CD variables).</a:t>
            </a:r>
            <a:endParaRPr lang="en-US" sz="2200">
              <a:highlight>
                <a:srgbClr val="606060"/>
              </a:highlight>
            </a:endParaRPr>
          </a:p>
          <a:p>
            <a:r>
              <a:rPr lang="en-US" sz="2200">
                <a:highlight>
                  <a:srgbClr val="FFFFFF"/>
                </a:highlight>
              </a:rPr>
              <a:t>Mark secrets as </a:t>
            </a:r>
            <a:r>
              <a:rPr lang="en-US" sz="2200" b="1">
                <a:highlight>
                  <a:srgbClr val="FFFFFF"/>
                </a:highlight>
              </a:rPr>
              <a:t>protected</a:t>
            </a:r>
            <a:r>
              <a:rPr lang="en-US" sz="2200">
                <a:highlight>
                  <a:srgbClr val="FFFFFF"/>
                </a:highlight>
              </a:rPr>
              <a:t> and restrict access to authorized pipelines.</a:t>
            </a:r>
            <a:endParaRPr lang="en-US" sz="2200">
              <a:highlight>
                <a:srgbClr val="606060"/>
              </a:highlight>
            </a:endParaRPr>
          </a:p>
          <a:p>
            <a:r>
              <a:rPr lang="en-US" sz="2200">
                <a:highlight>
                  <a:srgbClr val="FFFFFF"/>
                </a:highlight>
              </a:rPr>
              <a:t>Ensure CI/CD logs do not expose secrets.</a:t>
            </a:r>
            <a:endParaRPr lang="en-US" sz="2200">
              <a:highlight>
                <a:srgbClr val="606060"/>
              </a:highlight>
            </a:endParaRPr>
          </a:p>
          <a:p>
            <a:r>
              <a:rPr lang="en-US" sz="2200">
                <a:highlight>
                  <a:srgbClr val="FFFFFF"/>
                </a:highlight>
              </a:rPr>
              <a:t>Use secure runners and isolate build environments.</a:t>
            </a:r>
            <a:endParaRPr lang="en-US" sz="2200">
              <a:highlight>
                <a:srgbClr val="60606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66292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solidFill>
              <a:srgbClr val="ED7D31"/>
            </a:solidFill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200A6-87A6-C974-5444-CF83E821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8" y="1239927"/>
            <a:ext cx="4008586" cy="4680583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Aptos"/>
              </a:rPr>
              <a:t>Continuous Monitoring &amp; Automated Security</a:t>
            </a:r>
            <a:br>
              <a:rPr lang="en-US" b="1">
                <a:latin typeface="Aptos"/>
              </a:rPr>
            </a:br>
            <a:br>
              <a:rPr lang="en-US" b="1">
                <a:latin typeface="Aptos"/>
              </a:rPr>
            </a:br>
            <a:r>
              <a:rPr lang="en-US" b="1">
                <a:latin typeface="Aptos"/>
              </a:rPr>
              <a:t>Best Practices: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D8F2-3B9E-9040-8C0D-B3DA9185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highlight>
                  <a:srgbClr val="FFFFFF"/>
                </a:highlight>
              </a:rPr>
              <a:t>Implement automated scanning for:</a:t>
            </a:r>
            <a:endParaRPr lang="en-US" sz="2000">
              <a:highlight>
                <a:srgbClr val="606060"/>
              </a:highlight>
            </a:endParaRPr>
          </a:p>
          <a:p>
            <a:pPr lvl="1"/>
            <a:r>
              <a:rPr lang="en-US" sz="2000">
                <a:highlight>
                  <a:srgbClr val="FFFFFF"/>
                </a:highlight>
              </a:rPr>
              <a:t>Secrets</a:t>
            </a:r>
            <a:endParaRPr lang="en-US" sz="2000">
              <a:highlight>
                <a:srgbClr val="606060"/>
              </a:highlight>
            </a:endParaRPr>
          </a:p>
          <a:p>
            <a:pPr lvl="1"/>
            <a:r>
              <a:rPr lang="en-US" sz="2000">
                <a:highlight>
                  <a:srgbClr val="FFFFFF"/>
                </a:highlight>
              </a:rPr>
              <a:t>Vulnerable dependencies</a:t>
            </a:r>
            <a:endParaRPr lang="en-US" sz="2000">
              <a:highlight>
                <a:srgbClr val="606060"/>
              </a:highlight>
            </a:endParaRPr>
          </a:p>
          <a:p>
            <a:pPr lvl="1"/>
            <a:r>
              <a:rPr lang="en-US" sz="2000">
                <a:highlight>
                  <a:srgbClr val="FFFFFF"/>
                </a:highlight>
              </a:rPr>
              <a:t>Misconfigurations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Use commit‑level scanning tools in IDEs.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Monitor repository activity for anomalies (unexpected pushes, new branches).</a:t>
            </a:r>
            <a:endParaRPr lang="en-US" sz="2000">
              <a:highlight>
                <a:srgbClr val="606060"/>
              </a:highlight>
            </a:endParaRPr>
          </a:p>
          <a:p>
            <a:r>
              <a:rPr lang="en-US" sz="2000">
                <a:highlight>
                  <a:srgbClr val="FFFFFF"/>
                </a:highlight>
              </a:rPr>
              <a:t>Treat security as an ongoing process, not a one‑time setup.</a:t>
            </a:r>
            <a:endParaRPr lang="en-US" sz="2000">
              <a:highlight>
                <a:srgbClr val="60606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701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AAAED-C16F-D2EC-B7D7-1B4EDE6F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Resources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9DBB-711A-C027-2414-2FB0F40DB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u="sng">
                <a:highlight>
                  <a:srgbClr val="FFFFFF"/>
                </a:highlight>
                <a:hlinkClick r:id="rId2"/>
              </a:rPr>
              <a:t>https://www.harness.io/harness-devops-academy/secure-code-repositories-best-practices</a:t>
            </a:r>
            <a:endParaRPr lang="en-US" sz="2400">
              <a:highlight>
                <a:srgbClr val="606060"/>
              </a:highlight>
            </a:endParaRPr>
          </a:p>
          <a:p>
            <a:r>
              <a:rPr lang="en-US" sz="2400">
                <a:highlight>
                  <a:srgbClr val="FFFFFF"/>
                </a:highlight>
                <a:hlinkClick r:id="rId3"/>
              </a:rPr>
              <a:t>https://medium.com/@david-e/source-code-security-tryhackme-writeup-walkthrough-e2c48723e933</a:t>
            </a:r>
            <a:endParaRPr lang="en-US" sz="2400">
              <a:highlight>
                <a:srgbClr val="60606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9227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Security Controls in Shared Source Code Repositories</vt:lpstr>
      <vt:lpstr>Why Securing Code Repositories Matters</vt:lpstr>
      <vt:lpstr>Access Control &amp; Permissions  Best Practices:</vt:lpstr>
      <vt:lpstr>Credential Hygiene &amp; Secret Protection  Best Practices:</vt:lpstr>
      <vt:lpstr>Secure Branching &amp; Version Control Practices  Best Practices:</vt:lpstr>
      <vt:lpstr>Secret Management &amp; CI/CD Security  Best Practices:</vt:lpstr>
      <vt:lpstr>Continuous Monitoring &amp; Automated Security  Best Practices: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</cp:revision>
  <dcterms:created xsi:type="dcterms:W3CDTF">2026-08-17T03:30:43Z</dcterms:created>
  <dcterms:modified xsi:type="dcterms:W3CDTF">2026-08-17T03:46:49Z</dcterms:modified>
</cp:coreProperties>
</file>