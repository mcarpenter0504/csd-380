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6D0D3F-BF0D-D797-BD9D-B1E33A715D17}" v="50" dt="2026-08-03T04:45:40.3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9037C4C-2BD5-4D80-83D8-E140B4812ADA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E2707FA-BCCF-43C6-9940-F07819FBB557}">
      <dgm:prSet/>
      <dgm:spPr/>
      <dgm:t>
        <a:bodyPr/>
        <a:lstStyle/>
        <a:p>
          <a:r>
            <a:rPr lang="en-US"/>
            <a:t>• Balances accountability with learning</a:t>
          </a:r>
        </a:p>
      </dgm:t>
    </dgm:pt>
    <dgm:pt modelId="{1CA4A49F-9BC3-4230-BCD1-CFF25F711EEB}" type="parTrans" cxnId="{A0D95D2E-AE21-4C7D-AAE8-FC68E8277DDC}">
      <dgm:prSet/>
      <dgm:spPr/>
      <dgm:t>
        <a:bodyPr/>
        <a:lstStyle/>
        <a:p>
          <a:endParaRPr lang="en-US"/>
        </a:p>
      </dgm:t>
    </dgm:pt>
    <dgm:pt modelId="{DE19E794-0962-4A84-A53F-6CE81E237945}" type="sibTrans" cxnId="{A0D95D2E-AE21-4C7D-AAE8-FC68E8277DDC}">
      <dgm:prSet phldrT="01"/>
      <dgm:spPr/>
      <dgm:t>
        <a:bodyPr/>
        <a:lstStyle/>
        <a:p>
          <a:r>
            <a:rPr lang="en-US"/>
            <a:t>01</a:t>
          </a:r>
        </a:p>
      </dgm:t>
    </dgm:pt>
    <dgm:pt modelId="{935FF249-96AC-46A6-8281-B47D05E59E61}">
      <dgm:prSet/>
      <dgm:spPr/>
      <dgm:t>
        <a:bodyPr/>
        <a:lstStyle/>
        <a:p>
          <a:r>
            <a:rPr lang="en-US"/>
            <a:t>• Encourages reporting without unfair punishment</a:t>
          </a:r>
        </a:p>
      </dgm:t>
    </dgm:pt>
    <dgm:pt modelId="{B8C0EFDD-02BD-4646-8C17-DFEEF04FFC0F}" type="parTrans" cxnId="{C97F3C02-307A-42A3-A268-9E1B916E0A20}">
      <dgm:prSet/>
      <dgm:spPr/>
      <dgm:t>
        <a:bodyPr/>
        <a:lstStyle/>
        <a:p>
          <a:endParaRPr lang="en-US"/>
        </a:p>
      </dgm:t>
    </dgm:pt>
    <dgm:pt modelId="{094089E7-49E2-488D-8850-5431A6E045A6}" type="sibTrans" cxnId="{C97F3C02-307A-42A3-A268-9E1B916E0A20}">
      <dgm:prSet phldrT="02"/>
      <dgm:spPr/>
      <dgm:t>
        <a:bodyPr/>
        <a:lstStyle/>
        <a:p>
          <a:r>
            <a:rPr lang="en-US"/>
            <a:t>02</a:t>
          </a:r>
        </a:p>
      </dgm:t>
    </dgm:pt>
    <dgm:pt modelId="{D3CD48D0-C7CB-46B9-95FA-8942CEB6A6B1}">
      <dgm:prSet/>
      <dgm:spPr/>
      <dgm:t>
        <a:bodyPr/>
        <a:lstStyle/>
        <a:p>
          <a:r>
            <a:rPr lang="en-US"/>
            <a:t>• Focuses on improving systems instead of blaming individuals</a:t>
          </a:r>
        </a:p>
      </dgm:t>
    </dgm:pt>
    <dgm:pt modelId="{B9A77AFC-5D9F-496A-AE0D-C7BA901D2E11}" type="parTrans" cxnId="{0552FDCD-72DC-4E95-8E04-673FBD841334}">
      <dgm:prSet/>
      <dgm:spPr/>
      <dgm:t>
        <a:bodyPr/>
        <a:lstStyle/>
        <a:p>
          <a:endParaRPr lang="en-US"/>
        </a:p>
      </dgm:t>
    </dgm:pt>
    <dgm:pt modelId="{441C0135-B8EA-41F4-A809-DB83A45ED42D}" type="sibTrans" cxnId="{0552FDCD-72DC-4E95-8E04-673FBD841334}">
      <dgm:prSet phldrT="03"/>
      <dgm:spPr/>
      <dgm:t>
        <a:bodyPr/>
        <a:lstStyle/>
        <a:p>
          <a:r>
            <a:rPr lang="en-US"/>
            <a:t>03</a:t>
          </a:r>
        </a:p>
      </dgm:t>
    </dgm:pt>
    <dgm:pt modelId="{0F6ECF33-1C15-4409-AD43-79C17A8B013C}">
      <dgm:prSet/>
      <dgm:spPr/>
      <dgm:t>
        <a:bodyPr/>
        <a:lstStyle/>
        <a:p>
          <a:r>
            <a:rPr lang="en-US"/>
            <a:t>• Promotes fairness, communication, and continuous improvement</a:t>
          </a:r>
        </a:p>
      </dgm:t>
    </dgm:pt>
    <dgm:pt modelId="{AFD4C7A3-EE39-485B-BC7B-F57D404365A2}" type="parTrans" cxnId="{C1D869A4-0DA8-47A5-BA63-942FB5695D4B}">
      <dgm:prSet/>
      <dgm:spPr/>
      <dgm:t>
        <a:bodyPr/>
        <a:lstStyle/>
        <a:p>
          <a:endParaRPr lang="en-US"/>
        </a:p>
      </dgm:t>
    </dgm:pt>
    <dgm:pt modelId="{9934C760-9150-405D-857C-47DDC4150805}" type="sibTrans" cxnId="{C1D869A4-0DA8-47A5-BA63-942FB5695D4B}">
      <dgm:prSet phldrT="04"/>
      <dgm:spPr/>
      <dgm:t>
        <a:bodyPr/>
        <a:lstStyle/>
        <a:p>
          <a:r>
            <a:rPr lang="en-US"/>
            <a:t>04</a:t>
          </a:r>
        </a:p>
      </dgm:t>
    </dgm:pt>
    <dgm:pt modelId="{1F087B8A-7C5F-4660-974B-04C3418D380A}" type="pres">
      <dgm:prSet presAssocID="{A9037C4C-2BD5-4D80-83D8-E140B4812ADA}" presName="Name0" presStyleCnt="0">
        <dgm:presLayoutVars>
          <dgm:animLvl val="lvl"/>
          <dgm:resizeHandles val="exact"/>
        </dgm:presLayoutVars>
      </dgm:prSet>
      <dgm:spPr/>
    </dgm:pt>
    <dgm:pt modelId="{F868D4D1-1272-46F1-9919-8084B78475D9}" type="pres">
      <dgm:prSet presAssocID="{8E2707FA-BCCF-43C6-9940-F07819FBB557}" presName="compositeNode" presStyleCnt="0">
        <dgm:presLayoutVars>
          <dgm:bulletEnabled val="1"/>
        </dgm:presLayoutVars>
      </dgm:prSet>
      <dgm:spPr/>
    </dgm:pt>
    <dgm:pt modelId="{41B7F9F6-717D-49FE-A1FD-481C6C96ADD8}" type="pres">
      <dgm:prSet presAssocID="{8E2707FA-BCCF-43C6-9940-F07819FBB557}" presName="bgRect" presStyleLbl="alignNode1" presStyleIdx="0" presStyleCnt="4"/>
      <dgm:spPr/>
    </dgm:pt>
    <dgm:pt modelId="{12370B8C-7C95-41AE-A68E-054EF4374FFF}" type="pres">
      <dgm:prSet presAssocID="{DE19E794-0962-4A84-A53F-6CE81E237945}" presName="sibTransNodeRect" presStyleLbl="alignNode1" presStyleIdx="0" presStyleCnt="4">
        <dgm:presLayoutVars>
          <dgm:chMax val="0"/>
          <dgm:bulletEnabled val="1"/>
        </dgm:presLayoutVars>
      </dgm:prSet>
      <dgm:spPr/>
    </dgm:pt>
    <dgm:pt modelId="{500A18EE-EAF8-4FB3-8369-9676E2271CD7}" type="pres">
      <dgm:prSet presAssocID="{8E2707FA-BCCF-43C6-9940-F07819FBB557}" presName="nodeRect" presStyleLbl="alignNode1" presStyleIdx="0" presStyleCnt="4">
        <dgm:presLayoutVars>
          <dgm:bulletEnabled val="1"/>
        </dgm:presLayoutVars>
      </dgm:prSet>
      <dgm:spPr/>
    </dgm:pt>
    <dgm:pt modelId="{B3386B0F-EE28-41D1-90B3-0284B9B8C0EA}" type="pres">
      <dgm:prSet presAssocID="{DE19E794-0962-4A84-A53F-6CE81E237945}" presName="sibTrans" presStyleCnt="0"/>
      <dgm:spPr/>
    </dgm:pt>
    <dgm:pt modelId="{0AF15A25-F4CF-4712-AC5D-A4A6052A4AAD}" type="pres">
      <dgm:prSet presAssocID="{935FF249-96AC-46A6-8281-B47D05E59E61}" presName="compositeNode" presStyleCnt="0">
        <dgm:presLayoutVars>
          <dgm:bulletEnabled val="1"/>
        </dgm:presLayoutVars>
      </dgm:prSet>
      <dgm:spPr/>
    </dgm:pt>
    <dgm:pt modelId="{506DB9C3-5FD9-41E0-9329-310471123A11}" type="pres">
      <dgm:prSet presAssocID="{935FF249-96AC-46A6-8281-B47D05E59E61}" presName="bgRect" presStyleLbl="alignNode1" presStyleIdx="1" presStyleCnt="4"/>
      <dgm:spPr/>
    </dgm:pt>
    <dgm:pt modelId="{AD9F0E3C-EE6B-4878-90EE-69E04EE07B33}" type="pres">
      <dgm:prSet presAssocID="{094089E7-49E2-488D-8850-5431A6E045A6}" presName="sibTransNodeRect" presStyleLbl="alignNode1" presStyleIdx="1" presStyleCnt="4">
        <dgm:presLayoutVars>
          <dgm:chMax val="0"/>
          <dgm:bulletEnabled val="1"/>
        </dgm:presLayoutVars>
      </dgm:prSet>
      <dgm:spPr/>
    </dgm:pt>
    <dgm:pt modelId="{CB60E2DF-2E9B-414D-B965-B7E8580EB9DE}" type="pres">
      <dgm:prSet presAssocID="{935FF249-96AC-46A6-8281-B47D05E59E61}" presName="nodeRect" presStyleLbl="alignNode1" presStyleIdx="1" presStyleCnt="4">
        <dgm:presLayoutVars>
          <dgm:bulletEnabled val="1"/>
        </dgm:presLayoutVars>
      </dgm:prSet>
      <dgm:spPr/>
    </dgm:pt>
    <dgm:pt modelId="{755BBEE9-13C7-4874-85D7-630DA50013F0}" type="pres">
      <dgm:prSet presAssocID="{094089E7-49E2-488D-8850-5431A6E045A6}" presName="sibTrans" presStyleCnt="0"/>
      <dgm:spPr/>
    </dgm:pt>
    <dgm:pt modelId="{508A35D3-F86B-41C1-AD04-AD1EF1342543}" type="pres">
      <dgm:prSet presAssocID="{D3CD48D0-C7CB-46B9-95FA-8942CEB6A6B1}" presName="compositeNode" presStyleCnt="0">
        <dgm:presLayoutVars>
          <dgm:bulletEnabled val="1"/>
        </dgm:presLayoutVars>
      </dgm:prSet>
      <dgm:spPr/>
    </dgm:pt>
    <dgm:pt modelId="{ECC12F99-FDEE-4E74-8761-7815CC5D2984}" type="pres">
      <dgm:prSet presAssocID="{D3CD48D0-C7CB-46B9-95FA-8942CEB6A6B1}" presName="bgRect" presStyleLbl="alignNode1" presStyleIdx="2" presStyleCnt="4"/>
      <dgm:spPr/>
    </dgm:pt>
    <dgm:pt modelId="{4AF7C9A8-1191-490D-8F05-4E12E31BC24F}" type="pres">
      <dgm:prSet presAssocID="{441C0135-B8EA-41F4-A809-DB83A45ED42D}" presName="sibTransNodeRect" presStyleLbl="alignNode1" presStyleIdx="2" presStyleCnt="4">
        <dgm:presLayoutVars>
          <dgm:chMax val="0"/>
          <dgm:bulletEnabled val="1"/>
        </dgm:presLayoutVars>
      </dgm:prSet>
      <dgm:spPr/>
    </dgm:pt>
    <dgm:pt modelId="{6A90E914-4061-4796-9C94-5A4BAC10BC7E}" type="pres">
      <dgm:prSet presAssocID="{D3CD48D0-C7CB-46B9-95FA-8942CEB6A6B1}" presName="nodeRect" presStyleLbl="alignNode1" presStyleIdx="2" presStyleCnt="4">
        <dgm:presLayoutVars>
          <dgm:bulletEnabled val="1"/>
        </dgm:presLayoutVars>
      </dgm:prSet>
      <dgm:spPr/>
    </dgm:pt>
    <dgm:pt modelId="{A7733C15-FB66-48EC-9664-BC170D8BF8F1}" type="pres">
      <dgm:prSet presAssocID="{441C0135-B8EA-41F4-A809-DB83A45ED42D}" presName="sibTrans" presStyleCnt="0"/>
      <dgm:spPr/>
    </dgm:pt>
    <dgm:pt modelId="{1F0D5501-ED8A-4C37-9A02-519070820EDD}" type="pres">
      <dgm:prSet presAssocID="{0F6ECF33-1C15-4409-AD43-79C17A8B013C}" presName="compositeNode" presStyleCnt="0">
        <dgm:presLayoutVars>
          <dgm:bulletEnabled val="1"/>
        </dgm:presLayoutVars>
      </dgm:prSet>
      <dgm:spPr/>
    </dgm:pt>
    <dgm:pt modelId="{044473DC-6257-48F5-94F3-A0AD216BF07F}" type="pres">
      <dgm:prSet presAssocID="{0F6ECF33-1C15-4409-AD43-79C17A8B013C}" presName="bgRect" presStyleLbl="alignNode1" presStyleIdx="3" presStyleCnt="4"/>
      <dgm:spPr/>
    </dgm:pt>
    <dgm:pt modelId="{C7A4CFEF-356E-4FE9-978E-C39AF5DEEC71}" type="pres">
      <dgm:prSet presAssocID="{9934C760-9150-405D-857C-47DDC4150805}" presName="sibTransNodeRect" presStyleLbl="alignNode1" presStyleIdx="3" presStyleCnt="4">
        <dgm:presLayoutVars>
          <dgm:chMax val="0"/>
          <dgm:bulletEnabled val="1"/>
        </dgm:presLayoutVars>
      </dgm:prSet>
      <dgm:spPr/>
    </dgm:pt>
    <dgm:pt modelId="{63B69592-12A8-4ADD-87F6-C68ABB107E93}" type="pres">
      <dgm:prSet presAssocID="{0F6ECF33-1C15-4409-AD43-79C17A8B013C}" presName="nodeRect" presStyleLbl="alignNode1" presStyleIdx="3" presStyleCnt="4">
        <dgm:presLayoutVars>
          <dgm:bulletEnabled val="1"/>
        </dgm:presLayoutVars>
      </dgm:prSet>
      <dgm:spPr/>
    </dgm:pt>
  </dgm:ptLst>
  <dgm:cxnLst>
    <dgm:cxn modelId="{C97F3C02-307A-42A3-A268-9E1B916E0A20}" srcId="{A9037C4C-2BD5-4D80-83D8-E140B4812ADA}" destId="{935FF249-96AC-46A6-8281-B47D05E59E61}" srcOrd="1" destOrd="0" parTransId="{B8C0EFDD-02BD-4646-8C17-DFEEF04FFC0F}" sibTransId="{094089E7-49E2-488D-8850-5431A6E045A6}"/>
    <dgm:cxn modelId="{4D1E6303-1A67-48FC-992E-486435482F9E}" type="presOf" srcId="{0F6ECF33-1C15-4409-AD43-79C17A8B013C}" destId="{63B69592-12A8-4ADD-87F6-C68ABB107E93}" srcOrd="1" destOrd="0" presId="urn:microsoft.com/office/officeart/2016/7/layout/LinearBlockProcessNumbered"/>
    <dgm:cxn modelId="{938B7C03-47CC-404E-A88B-C0680D6DA0AE}" type="presOf" srcId="{935FF249-96AC-46A6-8281-B47D05E59E61}" destId="{506DB9C3-5FD9-41E0-9329-310471123A11}" srcOrd="0" destOrd="0" presId="urn:microsoft.com/office/officeart/2016/7/layout/LinearBlockProcessNumbered"/>
    <dgm:cxn modelId="{E8DAAD09-C28D-4908-861C-F1D69086698E}" type="presOf" srcId="{D3CD48D0-C7CB-46B9-95FA-8942CEB6A6B1}" destId="{6A90E914-4061-4796-9C94-5A4BAC10BC7E}" srcOrd="1" destOrd="0" presId="urn:microsoft.com/office/officeart/2016/7/layout/LinearBlockProcessNumbered"/>
    <dgm:cxn modelId="{A0D95D2E-AE21-4C7D-AAE8-FC68E8277DDC}" srcId="{A9037C4C-2BD5-4D80-83D8-E140B4812ADA}" destId="{8E2707FA-BCCF-43C6-9940-F07819FBB557}" srcOrd="0" destOrd="0" parTransId="{1CA4A49F-9BC3-4230-BCD1-CFF25F711EEB}" sibTransId="{DE19E794-0962-4A84-A53F-6CE81E237945}"/>
    <dgm:cxn modelId="{4F54E536-0E5F-4971-A07A-D600909AFFD5}" type="presOf" srcId="{D3CD48D0-C7CB-46B9-95FA-8942CEB6A6B1}" destId="{ECC12F99-FDEE-4E74-8761-7815CC5D2984}" srcOrd="0" destOrd="0" presId="urn:microsoft.com/office/officeart/2016/7/layout/LinearBlockProcessNumbered"/>
    <dgm:cxn modelId="{33ADDB3B-F5E6-4268-9BAC-BA6B86B88728}" type="presOf" srcId="{935FF249-96AC-46A6-8281-B47D05E59E61}" destId="{CB60E2DF-2E9B-414D-B965-B7E8580EB9DE}" srcOrd="1" destOrd="0" presId="urn:microsoft.com/office/officeart/2016/7/layout/LinearBlockProcessNumbered"/>
    <dgm:cxn modelId="{54115568-ADBC-4D1C-B2E7-5E27E2B1067F}" type="presOf" srcId="{9934C760-9150-405D-857C-47DDC4150805}" destId="{C7A4CFEF-356E-4FE9-978E-C39AF5DEEC71}" srcOrd="0" destOrd="0" presId="urn:microsoft.com/office/officeart/2016/7/layout/LinearBlockProcessNumbered"/>
    <dgm:cxn modelId="{F5A32C73-10DA-46ED-8353-387CD91CF148}" type="presOf" srcId="{094089E7-49E2-488D-8850-5431A6E045A6}" destId="{AD9F0E3C-EE6B-4878-90EE-69E04EE07B33}" srcOrd="0" destOrd="0" presId="urn:microsoft.com/office/officeart/2016/7/layout/LinearBlockProcessNumbered"/>
    <dgm:cxn modelId="{0028FC56-F5CF-4F99-84B6-88E513DE7D19}" type="presOf" srcId="{441C0135-B8EA-41F4-A809-DB83A45ED42D}" destId="{4AF7C9A8-1191-490D-8F05-4E12E31BC24F}" srcOrd="0" destOrd="0" presId="urn:microsoft.com/office/officeart/2016/7/layout/LinearBlockProcessNumbered"/>
    <dgm:cxn modelId="{60550B87-ED5C-4CBE-B1B2-3107915BC0B5}" type="presOf" srcId="{A9037C4C-2BD5-4D80-83D8-E140B4812ADA}" destId="{1F087B8A-7C5F-4660-974B-04C3418D380A}" srcOrd="0" destOrd="0" presId="urn:microsoft.com/office/officeart/2016/7/layout/LinearBlockProcessNumbered"/>
    <dgm:cxn modelId="{1DC1A988-F0E7-46F4-9E26-C6B6B410C805}" type="presOf" srcId="{8E2707FA-BCCF-43C6-9940-F07819FBB557}" destId="{500A18EE-EAF8-4FB3-8369-9676E2271CD7}" srcOrd="1" destOrd="0" presId="urn:microsoft.com/office/officeart/2016/7/layout/LinearBlockProcessNumbered"/>
    <dgm:cxn modelId="{C1D869A4-0DA8-47A5-BA63-942FB5695D4B}" srcId="{A9037C4C-2BD5-4D80-83D8-E140B4812ADA}" destId="{0F6ECF33-1C15-4409-AD43-79C17A8B013C}" srcOrd="3" destOrd="0" parTransId="{AFD4C7A3-EE39-485B-BC7B-F57D404365A2}" sibTransId="{9934C760-9150-405D-857C-47DDC4150805}"/>
    <dgm:cxn modelId="{0552FDCD-72DC-4E95-8E04-673FBD841334}" srcId="{A9037C4C-2BD5-4D80-83D8-E140B4812ADA}" destId="{D3CD48D0-C7CB-46B9-95FA-8942CEB6A6B1}" srcOrd="2" destOrd="0" parTransId="{B9A77AFC-5D9F-496A-AE0D-C7BA901D2E11}" sibTransId="{441C0135-B8EA-41F4-A809-DB83A45ED42D}"/>
    <dgm:cxn modelId="{0403A7D4-7D88-4D36-BBCD-CD16D8D3A352}" type="presOf" srcId="{8E2707FA-BCCF-43C6-9940-F07819FBB557}" destId="{41B7F9F6-717D-49FE-A1FD-481C6C96ADD8}" srcOrd="0" destOrd="0" presId="urn:microsoft.com/office/officeart/2016/7/layout/LinearBlockProcessNumbered"/>
    <dgm:cxn modelId="{26096FE7-0536-40C3-B1D5-BA5A477D9531}" type="presOf" srcId="{0F6ECF33-1C15-4409-AD43-79C17A8B013C}" destId="{044473DC-6257-48F5-94F3-A0AD216BF07F}" srcOrd="0" destOrd="0" presId="urn:microsoft.com/office/officeart/2016/7/layout/LinearBlockProcessNumbered"/>
    <dgm:cxn modelId="{69DE92FC-B71A-4867-B522-19BC0AA6ACE5}" type="presOf" srcId="{DE19E794-0962-4A84-A53F-6CE81E237945}" destId="{12370B8C-7C95-41AE-A68E-054EF4374FFF}" srcOrd="0" destOrd="0" presId="urn:microsoft.com/office/officeart/2016/7/layout/LinearBlockProcessNumbered"/>
    <dgm:cxn modelId="{F242DAB2-C4C9-4BEB-8FBA-3457F97B2085}" type="presParOf" srcId="{1F087B8A-7C5F-4660-974B-04C3418D380A}" destId="{F868D4D1-1272-46F1-9919-8084B78475D9}" srcOrd="0" destOrd="0" presId="urn:microsoft.com/office/officeart/2016/7/layout/LinearBlockProcessNumbered"/>
    <dgm:cxn modelId="{B6CB7E2E-6A35-4FCE-9651-7CEB712C65EE}" type="presParOf" srcId="{F868D4D1-1272-46F1-9919-8084B78475D9}" destId="{41B7F9F6-717D-49FE-A1FD-481C6C96ADD8}" srcOrd="0" destOrd="0" presId="urn:microsoft.com/office/officeart/2016/7/layout/LinearBlockProcessNumbered"/>
    <dgm:cxn modelId="{9A690DD1-7144-4BAC-A672-4ED0B2B820BE}" type="presParOf" srcId="{F868D4D1-1272-46F1-9919-8084B78475D9}" destId="{12370B8C-7C95-41AE-A68E-054EF4374FFF}" srcOrd="1" destOrd="0" presId="urn:microsoft.com/office/officeart/2016/7/layout/LinearBlockProcessNumbered"/>
    <dgm:cxn modelId="{B11AA9E6-E5AE-4934-BF86-73DEFB7306F1}" type="presParOf" srcId="{F868D4D1-1272-46F1-9919-8084B78475D9}" destId="{500A18EE-EAF8-4FB3-8369-9676E2271CD7}" srcOrd="2" destOrd="0" presId="urn:microsoft.com/office/officeart/2016/7/layout/LinearBlockProcessNumbered"/>
    <dgm:cxn modelId="{781BDC82-3D82-42C9-B965-0951B1825190}" type="presParOf" srcId="{1F087B8A-7C5F-4660-974B-04C3418D380A}" destId="{B3386B0F-EE28-41D1-90B3-0284B9B8C0EA}" srcOrd="1" destOrd="0" presId="urn:microsoft.com/office/officeart/2016/7/layout/LinearBlockProcessNumbered"/>
    <dgm:cxn modelId="{794E2F69-F848-445A-AB40-F088707CB1BC}" type="presParOf" srcId="{1F087B8A-7C5F-4660-974B-04C3418D380A}" destId="{0AF15A25-F4CF-4712-AC5D-A4A6052A4AAD}" srcOrd="2" destOrd="0" presId="urn:microsoft.com/office/officeart/2016/7/layout/LinearBlockProcessNumbered"/>
    <dgm:cxn modelId="{659E19C4-F4CB-4101-9AE0-5314D23511D4}" type="presParOf" srcId="{0AF15A25-F4CF-4712-AC5D-A4A6052A4AAD}" destId="{506DB9C3-5FD9-41E0-9329-310471123A11}" srcOrd="0" destOrd="0" presId="urn:microsoft.com/office/officeart/2016/7/layout/LinearBlockProcessNumbered"/>
    <dgm:cxn modelId="{B8AD7FA0-B7D6-45F7-AA51-ED97A0F1EB44}" type="presParOf" srcId="{0AF15A25-F4CF-4712-AC5D-A4A6052A4AAD}" destId="{AD9F0E3C-EE6B-4878-90EE-69E04EE07B33}" srcOrd="1" destOrd="0" presId="urn:microsoft.com/office/officeart/2016/7/layout/LinearBlockProcessNumbered"/>
    <dgm:cxn modelId="{1DF9506D-2B13-44F1-8489-99C0687EB612}" type="presParOf" srcId="{0AF15A25-F4CF-4712-AC5D-A4A6052A4AAD}" destId="{CB60E2DF-2E9B-414D-B965-B7E8580EB9DE}" srcOrd="2" destOrd="0" presId="urn:microsoft.com/office/officeart/2016/7/layout/LinearBlockProcessNumbered"/>
    <dgm:cxn modelId="{C2E5B2E1-DD83-422E-8CD9-E3E4CB1F7395}" type="presParOf" srcId="{1F087B8A-7C5F-4660-974B-04C3418D380A}" destId="{755BBEE9-13C7-4874-85D7-630DA50013F0}" srcOrd="3" destOrd="0" presId="urn:microsoft.com/office/officeart/2016/7/layout/LinearBlockProcessNumbered"/>
    <dgm:cxn modelId="{3F4367A0-90C2-4C93-868B-11DC0D48736B}" type="presParOf" srcId="{1F087B8A-7C5F-4660-974B-04C3418D380A}" destId="{508A35D3-F86B-41C1-AD04-AD1EF1342543}" srcOrd="4" destOrd="0" presId="urn:microsoft.com/office/officeart/2016/7/layout/LinearBlockProcessNumbered"/>
    <dgm:cxn modelId="{3A960638-87D2-42F6-AC30-260F01BD1723}" type="presParOf" srcId="{508A35D3-F86B-41C1-AD04-AD1EF1342543}" destId="{ECC12F99-FDEE-4E74-8761-7815CC5D2984}" srcOrd="0" destOrd="0" presId="urn:microsoft.com/office/officeart/2016/7/layout/LinearBlockProcessNumbered"/>
    <dgm:cxn modelId="{72DD841B-0B02-4040-9AB1-D69D9931F5F5}" type="presParOf" srcId="{508A35D3-F86B-41C1-AD04-AD1EF1342543}" destId="{4AF7C9A8-1191-490D-8F05-4E12E31BC24F}" srcOrd="1" destOrd="0" presId="urn:microsoft.com/office/officeart/2016/7/layout/LinearBlockProcessNumbered"/>
    <dgm:cxn modelId="{94C579AE-1737-4430-BB37-E039E935D96C}" type="presParOf" srcId="{508A35D3-F86B-41C1-AD04-AD1EF1342543}" destId="{6A90E914-4061-4796-9C94-5A4BAC10BC7E}" srcOrd="2" destOrd="0" presId="urn:microsoft.com/office/officeart/2016/7/layout/LinearBlockProcessNumbered"/>
    <dgm:cxn modelId="{262E3077-B08B-48BE-8DA5-FD967CD1EBF8}" type="presParOf" srcId="{1F087B8A-7C5F-4660-974B-04C3418D380A}" destId="{A7733C15-FB66-48EC-9664-BC170D8BF8F1}" srcOrd="5" destOrd="0" presId="urn:microsoft.com/office/officeart/2016/7/layout/LinearBlockProcessNumbered"/>
    <dgm:cxn modelId="{E10BB6A8-E2AC-4D49-8138-90C24CFD1418}" type="presParOf" srcId="{1F087B8A-7C5F-4660-974B-04C3418D380A}" destId="{1F0D5501-ED8A-4C37-9A02-519070820EDD}" srcOrd="6" destOrd="0" presId="urn:microsoft.com/office/officeart/2016/7/layout/LinearBlockProcessNumbered"/>
    <dgm:cxn modelId="{688CEBB1-E26B-46A8-A776-62D7EC779A25}" type="presParOf" srcId="{1F0D5501-ED8A-4C37-9A02-519070820EDD}" destId="{044473DC-6257-48F5-94F3-A0AD216BF07F}" srcOrd="0" destOrd="0" presId="urn:microsoft.com/office/officeart/2016/7/layout/LinearBlockProcessNumbered"/>
    <dgm:cxn modelId="{D5246986-CE7A-4BE6-991C-414F3D7C4ECD}" type="presParOf" srcId="{1F0D5501-ED8A-4C37-9A02-519070820EDD}" destId="{C7A4CFEF-356E-4FE9-978E-C39AF5DEEC71}" srcOrd="1" destOrd="0" presId="urn:microsoft.com/office/officeart/2016/7/layout/LinearBlockProcessNumbered"/>
    <dgm:cxn modelId="{8D71A8CF-9B5C-4ADE-93AA-91FE866BF64A}" type="presParOf" srcId="{1F0D5501-ED8A-4C37-9A02-519070820EDD}" destId="{63B69592-12A8-4ADD-87F6-C68ABB107E93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B7F9F6-717D-49FE-A1FD-481C6C96ADD8}">
      <dsp:nvSpPr>
        <dsp:cNvPr id="0" name=""/>
        <dsp:cNvSpPr/>
      </dsp:nvSpPr>
      <dsp:spPr>
        <a:xfrm>
          <a:off x="210" y="535578"/>
          <a:ext cx="2536370" cy="304364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0537" tIns="0" rIns="250537" bIns="33020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Balances accountability with learning</a:t>
          </a:r>
        </a:p>
      </dsp:txBody>
      <dsp:txXfrm>
        <a:off x="210" y="1753036"/>
        <a:ext cx="2536370" cy="1826186"/>
      </dsp:txXfrm>
    </dsp:sp>
    <dsp:sp modelId="{12370B8C-7C95-41AE-A68E-054EF4374FFF}">
      <dsp:nvSpPr>
        <dsp:cNvPr id="0" name=""/>
        <dsp:cNvSpPr/>
      </dsp:nvSpPr>
      <dsp:spPr>
        <a:xfrm>
          <a:off x="210" y="535578"/>
          <a:ext cx="2536370" cy="1217457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0537" tIns="165100" rIns="250537" bIns="165100" numCol="1" spcCol="1270" anchor="ctr" anchorCtr="0">
          <a:noAutofit/>
        </a:bodyPr>
        <a:lstStyle/>
        <a:p>
          <a:pPr marL="0" lvl="0" indent="0" algn="l" defTabSz="2800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300" kern="1200"/>
            <a:t>01</a:t>
          </a:r>
        </a:p>
      </dsp:txBody>
      <dsp:txXfrm>
        <a:off x="210" y="535578"/>
        <a:ext cx="2536370" cy="1217457"/>
      </dsp:txXfrm>
    </dsp:sp>
    <dsp:sp modelId="{506DB9C3-5FD9-41E0-9329-310471123A11}">
      <dsp:nvSpPr>
        <dsp:cNvPr id="0" name=""/>
        <dsp:cNvSpPr/>
      </dsp:nvSpPr>
      <dsp:spPr>
        <a:xfrm>
          <a:off x="2739489" y="535578"/>
          <a:ext cx="2536370" cy="304364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0537" tIns="0" rIns="250537" bIns="33020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Encourages reporting without unfair punishment</a:t>
          </a:r>
        </a:p>
      </dsp:txBody>
      <dsp:txXfrm>
        <a:off x="2739489" y="1753036"/>
        <a:ext cx="2536370" cy="1826186"/>
      </dsp:txXfrm>
    </dsp:sp>
    <dsp:sp modelId="{AD9F0E3C-EE6B-4878-90EE-69E04EE07B33}">
      <dsp:nvSpPr>
        <dsp:cNvPr id="0" name=""/>
        <dsp:cNvSpPr/>
      </dsp:nvSpPr>
      <dsp:spPr>
        <a:xfrm>
          <a:off x="2739489" y="535578"/>
          <a:ext cx="2536370" cy="1217457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0537" tIns="165100" rIns="250537" bIns="165100" numCol="1" spcCol="1270" anchor="ctr" anchorCtr="0">
          <a:noAutofit/>
        </a:bodyPr>
        <a:lstStyle/>
        <a:p>
          <a:pPr marL="0" lvl="0" indent="0" algn="l" defTabSz="2800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300" kern="1200"/>
            <a:t>02</a:t>
          </a:r>
        </a:p>
      </dsp:txBody>
      <dsp:txXfrm>
        <a:off x="2739489" y="535578"/>
        <a:ext cx="2536370" cy="1217457"/>
      </dsp:txXfrm>
    </dsp:sp>
    <dsp:sp modelId="{ECC12F99-FDEE-4E74-8761-7815CC5D2984}">
      <dsp:nvSpPr>
        <dsp:cNvPr id="0" name=""/>
        <dsp:cNvSpPr/>
      </dsp:nvSpPr>
      <dsp:spPr>
        <a:xfrm>
          <a:off x="5478769" y="535578"/>
          <a:ext cx="2536370" cy="304364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0537" tIns="0" rIns="250537" bIns="33020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Focuses on improving systems instead of blaming individuals</a:t>
          </a:r>
        </a:p>
      </dsp:txBody>
      <dsp:txXfrm>
        <a:off x="5478769" y="1753036"/>
        <a:ext cx="2536370" cy="1826186"/>
      </dsp:txXfrm>
    </dsp:sp>
    <dsp:sp modelId="{4AF7C9A8-1191-490D-8F05-4E12E31BC24F}">
      <dsp:nvSpPr>
        <dsp:cNvPr id="0" name=""/>
        <dsp:cNvSpPr/>
      </dsp:nvSpPr>
      <dsp:spPr>
        <a:xfrm>
          <a:off x="5478769" y="535578"/>
          <a:ext cx="2536370" cy="1217457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0537" tIns="165100" rIns="250537" bIns="165100" numCol="1" spcCol="1270" anchor="ctr" anchorCtr="0">
          <a:noAutofit/>
        </a:bodyPr>
        <a:lstStyle/>
        <a:p>
          <a:pPr marL="0" lvl="0" indent="0" algn="l" defTabSz="2800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300" kern="1200"/>
            <a:t>03</a:t>
          </a:r>
        </a:p>
      </dsp:txBody>
      <dsp:txXfrm>
        <a:off x="5478769" y="535578"/>
        <a:ext cx="2536370" cy="1217457"/>
      </dsp:txXfrm>
    </dsp:sp>
    <dsp:sp modelId="{044473DC-6257-48F5-94F3-A0AD216BF07F}">
      <dsp:nvSpPr>
        <dsp:cNvPr id="0" name=""/>
        <dsp:cNvSpPr/>
      </dsp:nvSpPr>
      <dsp:spPr>
        <a:xfrm>
          <a:off x="8218049" y="535578"/>
          <a:ext cx="2536370" cy="304364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0537" tIns="0" rIns="250537" bIns="33020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Promotes fairness, communication, and continuous improvement</a:t>
          </a:r>
        </a:p>
      </dsp:txBody>
      <dsp:txXfrm>
        <a:off x="8218049" y="1753036"/>
        <a:ext cx="2536370" cy="1826186"/>
      </dsp:txXfrm>
    </dsp:sp>
    <dsp:sp modelId="{C7A4CFEF-356E-4FE9-978E-C39AF5DEEC71}">
      <dsp:nvSpPr>
        <dsp:cNvPr id="0" name=""/>
        <dsp:cNvSpPr/>
      </dsp:nvSpPr>
      <dsp:spPr>
        <a:xfrm>
          <a:off x="8218049" y="535578"/>
          <a:ext cx="2536370" cy="1217457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0537" tIns="165100" rIns="250537" bIns="165100" numCol="1" spcCol="1270" anchor="ctr" anchorCtr="0">
          <a:noAutofit/>
        </a:bodyPr>
        <a:lstStyle/>
        <a:p>
          <a:pPr marL="0" lvl="0" indent="0" algn="l" defTabSz="2800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300" kern="1200"/>
            <a:t>04</a:t>
          </a:r>
        </a:p>
      </dsp:txBody>
      <dsp:txXfrm>
        <a:off x="8218049" y="535578"/>
        <a:ext cx="2536370" cy="121745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>
                <a:solidFill>
                  <a:srgbClr val="FFFFFF"/>
                </a:solidFill>
              </a:rPr>
              <a:t>Establishing a Just, Learning Culture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3515" y="715379"/>
            <a:ext cx="10176151" cy="10975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What Is a Just Culture?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444D337-4D9F-40A8-BA84-C0BFA7A8A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1962"/>
            <a:ext cx="12191998" cy="46177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0478D1D-B50E-41C8-8A55-36A53D449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1962"/>
            <a:ext cx="4076698" cy="464399"/>
          </a:xfrm>
          <a:prstGeom prst="rect">
            <a:avLst/>
          </a:prstGeom>
          <a:gradFill>
            <a:gsLst>
              <a:gs pos="0">
                <a:srgbClr val="000000">
                  <a:alpha val="46000"/>
                </a:srgbClr>
              </a:gs>
              <a:gs pos="99000">
                <a:schemeClr val="accent1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1078FE3C-2E80-9C74-651C-80432344434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75554835"/>
              </p:ext>
            </p:extLst>
          </p:nvPr>
        </p:nvGraphicFramePr>
        <p:xfrm>
          <a:off x="722352" y="1898904"/>
          <a:ext cx="10754630" cy="41148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</a:pPr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Major Barriers to Implementing a Just Culture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10259" y="649480"/>
            <a:ext cx="6555347" cy="5546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  <a:defRPr sz="2400"/>
            </a:pPr>
            <a:r>
              <a:rPr lang="en-US" sz="2000"/>
              <a:t>• Fear of blame or punishment</a:t>
            </a:r>
            <a:endParaRPr lang="en-US"/>
          </a:p>
          <a:p>
            <a:pPr defTabSz="914400">
              <a:lnSpc>
                <a:spcPct val="90000"/>
              </a:lnSpc>
              <a:spcAft>
                <a:spcPts val="600"/>
              </a:spcAft>
              <a:defRPr sz="2400"/>
            </a:pPr>
            <a:r>
              <a:rPr lang="en-US" sz="2000"/>
              <a:t>• Lack of trust between employees and leadership</a:t>
            </a:r>
            <a:endParaRPr lang="en-US" sz="2000">
              <a:ea typeface="Calibri"/>
              <a:cs typeface="Calibri"/>
            </a:endParaRPr>
          </a:p>
          <a:p>
            <a:pPr defTabSz="914400">
              <a:lnSpc>
                <a:spcPct val="90000"/>
              </a:lnSpc>
              <a:spcAft>
                <a:spcPts val="600"/>
              </a:spcAft>
              <a:defRPr sz="2400"/>
            </a:pPr>
            <a:r>
              <a:rPr lang="en-US" sz="2000"/>
              <a:t>• Poor communication</a:t>
            </a:r>
            <a:endParaRPr lang="en-US" sz="2000">
              <a:ea typeface="Calibri"/>
              <a:cs typeface="Calibri"/>
            </a:endParaRPr>
          </a:p>
          <a:p>
            <a:pPr defTabSz="914400">
              <a:lnSpc>
                <a:spcPct val="90000"/>
              </a:lnSpc>
              <a:spcAft>
                <a:spcPts val="600"/>
              </a:spcAft>
              <a:defRPr sz="2400"/>
            </a:pPr>
            <a:r>
              <a:rPr lang="en-US" sz="2000"/>
              <a:t>• Inconsistent application of policies</a:t>
            </a:r>
            <a:endParaRPr lang="en-US" sz="2000">
              <a:ea typeface="Calibri"/>
              <a:cs typeface="Calibri"/>
            </a:endParaRPr>
          </a:p>
          <a:p>
            <a:pPr defTabSz="914400">
              <a:lnSpc>
                <a:spcPct val="90000"/>
              </a:lnSpc>
              <a:spcAft>
                <a:spcPts val="600"/>
              </a:spcAft>
              <a:defRPr sz="2400"/>
            </a:pPr>
            <a:r>
              <a:rPr lang="en-US" sz="2000"/>
              <a:t>• Resistance to organizational change</a:t>
            </a:r>
            <a:endParaRPr lang="en-US" sz="2000">
              <a:ea typeface="Calibri"/>
              <a:cs typeface="Calibri"/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400"/>
            </a:pPr>
            <a:endParaRPr lang="en-US" sz="2000"/>
          </a:p>
          <a:p>
            <a:pPr defTabSz="914400">
              <a:lnSpc>
                <a:spcPct val="90000"/>
              </a:lnSpc>
              <a:spcAft>
                <a:spcPts val="600"/>
              </a:spcAft>
              <a:defRPr sz="2400"/>
            </a:pPr>
            <a:r>
              <a:rPr lang="en-US" sz="2000"/>
              <a:t>These barriers reduce reporting and limit organizational learning.</a:t>
            </a:r>
            <a:endParaRPr lang="en-US" sz="200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9716" y="499397"/>
            <a:ext cx="5929422" cy="16401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Leadership's Role in Building Trust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9717" y="2423821"/>
            <a:ext cx="5929422" cy="35197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400"/>
            </a:pPr>
            <a:r>
              <a:rPr lang="en-US" sz="2000"/>
              <a:t>Graphic Placeholder: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400"/>
            </a:pPr>
            <a:r>
              <a:rPr lang="en-US" sz="2000"/>
              <a:t>Insert an image of a workplace team meeting or collaboration.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400"/>
            </a:pPr>
            <a:endParaRPr lang="en-US" sz="2000"/>
          </a:p>
          <a:p>
            <a:pPr defTabSz="914400">
              <a:lnSpc>
                <a:spcPct val="90000"/>
              </a:lnSpc>
              <a:spcAft>
                <a:spcPts val="600"/>
              </a:spcAft>
              <a:defRPr sz="2400"/>
            </a:pPr>
            <a:r>
              <a:rPr lang="en-US" sz="2000"/>
              <a:t>• Leaders model fairness and transparency</a:t>
            </a:r>
            <a:endParaRPr lang="en-US" sz="2000">
              <a:ea typeface="Calibri"/>
              <a:cs typeface="Calibri"/>
            </a:endParaRPr>
          </a:p>
          <a:p>
            <a:pPr defTabSz="914400">
              <a:lnSpc>
                <a:spcPct val="90000"/>
              </a:lnSpc>
              <a:spcAft>
                <a:spcPts val="600"/>
              </a:spcAft>
              <a:defRPr sz="2400"/>
            </a:pPr>
            <a:r>
              <a:rPr lang="en-US" sz="2000"/>
              <a:t>• Separate human error from reckless behavior</a:t>
            </a:r>
            <a:endParaRPr lang="en-US" sz="2000">
              <a:ea typeface="Calibri"/>
              <a:cs typeface="Calibri"/>
            </a:endParaRPr>
          </a:p>
          <a:p>
            <a:pPr defTabSz="914400">
              <a:lnSpc>
                <a:spcPct val="90000"/>
              </a:lnSpc>
              <a:spcAft>
                <a:spcPts val="600"/>
              </a:spcAft>
              <a:defRPr sz="2400"/>
            </a:pPr>
            <a:r>
              <a:rPr lang="en-US" sz="2000"/>
              <a:t>• Build psychological safety</a:t>
            </a:r>
            <a:endParaRPr lang="en-US" sz="2000">
              <a:ea typeface="Calibri"/>
              <a:cs typeface="Calibri"/>
            </a:endParaRPr>
          </a:p>
          <a:p>
            <a:pPr defTabSz="914400">
              <a:lnSpc>
                <a:spcPct val="90000"/>
              </a:lnSpc>
              <a:spcAft>
                <a:spcPts val="600"/>
              </a:spcAft>
              <a:defRPr sz="2400"/>
            </a:pPr>
            <a:r>
              <a:rPr lang="en-US" sz="2000"/>
              <a:t>• Encourage honest reporting</a:t>
            </a:r>
            <a:endParaRPr lang="en-US" sz="2000">
              <a:ea typeface="Calibri"/>
              <a:cs typeface="Calibri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1707E60-CEC9-4661-AA82-69242EB4BD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F035CD8-AE30-4146-96F2-036B0CE5E4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300" y="6406115"/>
            <a:ext cx="4076698" cy="464399"/>
          </a:xfrm>
          <a:prstGeom prst="rect">
            <a:avLst/>
          </a:prstGeom>
          <a:gradFill>
            <a:gsLst>
              <a:gs pos="19000">
                <a:srgbClr val="000000">
                  <a:alpha val="46000"/>
                </a:srgbClr>
              </a:gs>
              <a:gs pos="99000">
                <a:schemeClr val="accent1"/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0EBBF9-4811-96C3-53A5-1C79B54152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4525" y="1601165"/>
            <a:ext cx="4798671" cy="320232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4472C4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</a:pPr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Strategies for Overcoming Barriers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10259" y="649480"/>
            <a:ext cx="6555347" cy="5546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400"/>
            </a:pPr>
            <a:r>
              <a:rPr lang="en-US" sz="2000"/>
              <a:t> Create clear reporting procedures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defRPr sz="2400"/>
            </a:pPr>
            <a:r>
              <a:rPr lang="en-US" sz="2000"/>
              <a:t>• Train leaders on just culture principles</a:t>
            </a:r>
            <a:endParaRPr lang="en-US" sz="2000">
              <a:ea typeface="Calibri"/>
              <a:cs typeface="Calibri"/>
            </a:endParaRPr>
          </a:p>
          <a:p>
            <a:pPr defTabSz="914400">
              <a:lnSpc>
                <a:spcPct val="90000"/>
              </a:lnSpc>
              <a:spcAft>
                <a:spcPts val="600"/>
              </a:spcAft>
              <a:defRPr sz="2400"/>
            </a:pPr>
            <a:r>
              <a:rPr lang="en-US" sz="2000"/>
              <a:t>• Encourage open feedback</a:t>
            </a:r>
            <a:endParaRPr lang="en-US" sz="2000">
              <a:ea typeface="Calibri"/>
              <a:cs typeface="Calibri"/>
            </a:endParaRPr>
          </a:p>
          <a:p>
            <a:pPr defTabSz="914400">
              <a:lnSpc>
                <a:spcPct val="90000"/>
              </a:lnSpc>
              <a:spcAft>
                <a:spcPts val="600"/>
              </a:spcAft>
              <a:defRPr sz="2400"/>
            </a:pPr>
            <a:r>
              <a:rPr lang="en-US" sz="2000"/>
              <a:t>• Improve systems instead of assigning blame</a:t>
            </a:r>
            <a:endParaRPr lang="en-US" sz="2000">
              <a:ea typeface="Calibri"/>
              <a:cs typeface="Calibri"/>
            </a:endParaRPr>
          </a:p>
          <a:p>
            <a:pPr defTabSz="914400">
              <a:lnSpc>
                <a:spcPct val="90000"/>
              </a:lnSpc>
              <a:spcAft>
                <a:spcPts val="600"/>
              </a:spcAft>
              <a:defRPr sz="2400"/>
            </a:pPr>
            <a:r>
              <a:rPr lang="en-US" sz="2000"/>
              <a:t>• Recognize employees who report concerns</a:t>
            </a:r>
            <a:endParaRPr lang="en-US" sz="200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596F992-698C-48C0-9D89-70DA4CE92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2" y="489508"/>
            <a:ext cx="5181597" cy="165548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</a:pPr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Benefits of a Just Learning Culture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2" y="2418408"/>
            <a:ext cx="5181598" cy="340989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r" defTabSz="914400">
              <a:lnSpc>
                <a:spcPct val="90000"/>
              </a:lnSpc>
              <a:spcAft>
                <a:spcPts val="600"/>
              </a:spcAft>
              <a:defRPr sz="2400"/>
            </a:pPr>
            <a:r>
              <a:rPr lang="en-US" sz="2000"/>
              <a:t>• Higher employee trust</a:t>
            </a:r>
            <a:endParaRPr lang="en-US"/>
          </a:p>
          <a:p>
            <a:pPr algn="r" defTabSz="914400">
              <a:lnSpc>
                <a:spcPct val="90000"/>
              </a:lnSpc>
              <a:spcAft>
                <a:spcPts val="600"/>
              </a:spcAft>
              <a:defRPr sz="2400"/>
            </a:pPr>
            <a:r>
              <a:rPr lang="en-US" sz="2000"/>
              <a:t>• Fewer repeat mistakes</a:t>
            </a:r>
            <a:endParaRPr lang="en-US" sz="2000">
              <a:ea typeface="Calibri"/>
              <a:cs typeface="Calibri"/>
            </a:endParaRPr>
          </a:p>
          <a:p>
            <a:pPr algn="r" defTabSz="914400">
              <a:lnSpc>
                <a:spcPct val="90000"/>
              </a:lnSpc>
              <a:spcAft>
                <a:spcPts val="600"/>
              </a:spcAft>
              <a:defRPr sz="2400"/>
            </a:pPr>
            <a:r>
              <a:rPr lang="en-US" sz="2000"/>
              <a:t>• Better decision-making</a:t>
            </a:r>
            <a:endParaRPr lang="en-US" sz="2000">
              <a:ea typeface="Calibri"/>
              <a:cs typeface="Calibri"/>
            </a:endParaRPr>
          </a:p>
          <a:p>
            <a:pPr algn="r" defTabSz="914400">
              <a:lnSpc>
                <a:spcPct val="90000"/>
              </a:lnSpc>
              <a:spcAft>
                <a:spcPts val="600"/>
              </a:spcAft>
              <a:defRPr sz="2400"/>
            </a:pPr>
            <a:r>
              <a:rPr lang="en-US" sz="2000"/>
              <a:t>• Increased innovation</a:t>
            </a:r>
            <a:endParaRPr lang="en-US" sz="2000">
              <a:ea typeface="Calibri"/>
              <a:cs typeface="Calibri"/>
            </a:endParaRPr>
          </a:p>
          <a:p>
            <a:pPr algn="r" defTabSz="914400">
              <a:lnSpc>
                <a:spcPct val="90000"/>
              </a:lnSpc>
              <a:spcAft>
                <a:spcPts val="600"/>
              </a:spcAft>
              <a:defRPr sz="2400"/>
            </a:pPr>
            <a:r>
              <a:rPr lang="en-US" sz="2000"/>
              <a:t>• Stronger safety performance</a:t>
            </a:r>
            <a:endParaRPr lang="en-US" sz="2000">
              <a:ea typeface="Calibri"/>
              <a:cs typeface="Calibri"/>
            </a:endParaRPr>
          </a:p>
          <a:p>
            <a:pPr algn="r" defTabSz="914400">
              <a:lnSpc>
                <a:spcPct val="90000"/>
              </a:lnSpc>
              <a:spcAft>
                <a:spcPts val="600"/>
              </a:spcAft>
              <a:defRPr sz="2400"/>
            </a:pPr>
            <a:r>
              <a:rPr lang="en-US" sz="2000"/>
              <a:t>• Continuous organizational learning</a:t>
            </a:r>
            <a:endParaRPr lang="en-US" sz="2000">
              <a:ea typeface="Calibri"/>
              <a:cs typeface="Calibri"/>
            </a:endParaRPr>
          </a:p>
        </p:txBody>
      </p:sp>
      <p:pic>
        <p:nvPicPr>
          <p:cNvPr id="7" name="Graphic 6" descr="Light Bulb and Gear">
            <a:extLst>
              <a:ext uri="{FF2B5EF4-FFF2-40B4-BE49-F238E27FC236}">
                <a16:creationId xmlns:a16="http://schemas.microsoft.com/office/drawing/2014/main" id="{D4C167F7-8998-F7DD-B3F2-BDAD797DA7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75120" y="757362"/>
            <a:ext cx="4957638" cy="4957638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A344AAA5-41F4-4862-97EF-688D31DC75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85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9E1A62C-2AAF-4B3E-8CDB-65E2370809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2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599" y="2318197"/>
            <a:ext cx="9724031" cy="36833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Calibri"/>
              <a:buChar char="-"/>
              <a:defRPr sz="2400"/>
            </a:pPr>
            <a:r>
              <a:rPr lang="en-US" sz="2000"/>
              <a:t>Ingram, C. (2022). Breaking down barriers to </a:t>
            </a:r>
            <a:r>
              <a:rPr lang="en-US" sz="2000" err="1"/>
              <a:t>realising</a:t>
            </a:r>
            <a:r>
              <a:rPr lang="en-US" sz="2000" dirty="0"/>
              <a:t> a just culture. LinkedIn.</a:t>
            </a:r>
            <a:endParaRPr lang="en-US" dirty="0">
              <a:ea typeface="Calibri"/>
              <a:cs typeface="Calibri"/>
            </a:endParaRPr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Calibri"/>
              <a:buChar char="-"/>
              <a:defRPr sz="2400"/>
            </a:pPr>
            <a:r>
              <a:rPr lang="en-US" sz="2000" dirty="0"/>
              <a:t>https://www.linkedin.com/pulse/breaking-down-barriers-realising-just-culture-chris-ingram</a:t>
            </a:r>
            <a:endParaRPr lang="en-US" sz="2000" dirty="0">
              <a:ea typeface="Calibri"/>
              <a:cs typeface="Calibri"/>
            </a:endParaRPr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Calibri"/>
              <a:buChar char="-"/>
              <a:defRPr sz="2400"/>
            </a:pPr>
            <a:r>
              <a:rPr lang="en-US" sz="2000"/>
              <a:t>Humanistic Systems. (2023). Why is it just so difficult? Barriers to just culture in the real </a:t>
            </a:r>
            <a:r>
              <a:rPr lang="en-US" sz="2000" dirty="0"/>
              <a:t>world.</a:t>
            </a:r>
            <a:endParaRPr lang="en-US" sz="2000">
              <a:ea typeface="Calibri"/>
              <a:cs typeface="Calibri"/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Calibri" panose="020B0604020202020204" pitchFamily="34" charset="0"/>
              <a:buChar char="-"/>
              <a:defRPr sz="2400"/>
            </a:pPr>
            <a:r>
              <a:rPr lang="en-US" sz="2000" dirty="0"/>
              <a:t>https://humanisticsystems.com/2023/10/18/why-is-it-just-so-difficult-barriers-to-just-culture-in-the-real-world/</a:t>
            </a:r>
            <a:endParaRPr lang="en-US" sz="2000"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Establishing a Just, Learning Culture</vt:lpstr>
      <vt:lpstr>What Is a Just Culture?</vt:lpstr>
      <vt:lpstr>Major Barriers to Implementing a Just Culture</vt:lpstr>
      <vt:lpstr>Leadership's Role in Building Trust</vt:lpstr>
      <vt:lpstr>Strategies for Overcoming Barriers</vt:lpstr>
      <vt:lpstr>Benefits of a Just Learning Culture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35</cp:revision>
  <dcterms:created xsi:type="dcterms:W3CDTF">2013-01-27T09:14:16Z</dcterms:created>
  <dcterms:modified xsi:type="dcterms:W3CDTF">2026-08-03T04:45:50Z</dcterms:modified>
  <cp:category/>
</cp:coreProperties>
</file>